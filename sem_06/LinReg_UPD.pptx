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1.xml" ContentType="application/vnd.openxmlformats-officedocument.presentationml.notesSlide+xml"/>
  <Override PartName="/ppt/ink/ink36.xml" ContentType="application/inkml+xml"/>
  <Override PartName="/ppt/ink/ink37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66" r:id="rId5"/>
    <p:sldId id="267" r:id="rId6"/>
    <p:sldId id="268" r:id="rId7"/>
    <p:sldId id="283" r:id="rId8"/>
    <p:sldId id="306" r:id="rId9"/>
    <p:sldId id="269" r:id="rId10"/>
    <p:sldId id="271" r:id="rId11"/>
    <p:sldId id="273" r:id="rId12"/>
    <p:sldId id="274" r:id="rId13"/>
    <p:sldId id="276" r:id="rId14"/>
    <p:sldId id="275" r:id="rId15"/>
    <p:sldId id="277" r:id="rId16"/>
    <p:sldId id="285" r:id="rId17"/>
    <p:sldId id="286" r:id="rId18"/>
    <p:sldId id="278" r:id="rId19"/>
    <p:sldId id="279" r:id="rId20"/>
    <p:sldId id="281" r:id="rId21"/>
    <p:sldId id="282" r:id="rId22"/>
    <p:sldId id="287" r:id="rId23"/>
    <p:sldId id="289" r:id="rId24"/>
    <p:sldId id="288" r:id="rId25"/>
    <p:sldId id="293" r:id="rId26"/>
    <p:sldId id="303" r:id="rId27"/>
    <p:sldId id="294" r:id="rId28"/>
    <p:sldId id="290" r:id="rId29"/>
    <p:sldId id="295" r:id="rId30"/>
    <p:sldId id="304" r:id="rId31"/>
    <p:sldId id="305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10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5:57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24575,'12'304'0,"-4"-237"0,3-1 0,28 98 0,119 417 0,-75-268 0,-47-168 0,-20-69 0,-4 0 0,3 128 0,0-4 0,11 214 0,13 87 0,50 456 0,-41-307 0,-28 283 0,-24-612 0,4 2430 0,3-2672 0,20 131 0,34 77 0,-33-178 0,89 341 0,-45-192 0,-37-146 0,-14-52 0,-1 0 0,-4 0 0,-2 2 0,2 67 0,-12-36-1365,-1-53-5461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00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24575,'-4'64'0,"-3"0"0,-2-1 0,-30 105 0,9-43 0,21-94 0,-1 0 0,-18 39 0,16-44 0,2 1 0,0 0 0,-10 51 0,18-68 0,-6 47 0,10-50 0,7-37 0,33-161 0,-5 16 0,-35 170 0,16-62 0,-2-2 0,10-108 0,-26 161 0,3-34 0,-3 48 0,1 0 0,-1 0 0,0-1 0,1 1 0,0 0 0,-1 0 0,1 0 0,0 0 0,0 0 0,0 0 0,0 0 0,1 0 0,-1 0 0,0 1 0,1-1 0,2-2 0,-3 3 0,0 1 0,1 0 0,-1 0 0,0 0 0,0 0 0,0 0 0,0 0 0,0 0 0,0 0 0,0 0 0,0 0 0,1 1 0,-1-1 0,0 0 0,0 1 0,0-1 0,0 1 0,0-1 0,0 1 0,-1 0 0,1-1 0,0 1 0,0 0 0,0 0 0,-1-1 0,2 3 0,24 27 0,-22-24 0,17 25 0,-2 0 0,-1 1 0,20 51 0,-12-23 0,70 116-1365,-79-142-5461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02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24575,'703'2'0,"822"-6"0,-429-93-716,-290 12 619,-135 72 239,-4 45 523,331-13-659,-910-27-6,124-28 0,-149 22 0,0 3 0,1 2 0,0 4 0,101 3 0,-54 16 0,117 32 0,-50-8 0,83 14 0,158 29 0,4-33 0,78-1 0,109 2 0,462-48 0,-469-3 0,-587 2-341,1-1 0,-1 0-1,29-6 1,-12-4-6485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04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24575,'15'12'0,"0"0"0,1 0 0,1-2 0,33 17 0,15 9 0,10 12 0,2-3 0,2-4 0,2-3 0,1-4 0,117 31 0,-188-62 0,0 0 0,0 1 0,0 1 0,0-1 0,-1 2 0,0-1 0,0 1 0,12 10 0,-20-15 0,-1 1 0,1-1 0,0 1 0,-1 0 0,0-1 0,1 1 0,-1 0 0,0 0 0,0 0 0,0 0 0,0 0 0,0 0 0,0 1 0,-1-1 0,1 0 0,-1 0 0,0 0 0,1 1 0,-1 2 0,-1-2 0,0 0 0,0 0 0,0 0 0,0 0 0,-1 0 0,1-1 0,-1 1 0,0 0 0,1-1 0,-1 1 0,-1-1 0,1 0 0,0 1 0,0-1 0,-1 0 0,1 0 0,-6 2 0,-25 19 0,-34 22 0,-110 97 0,166-130-97,1 0-1,0 1 1,0 0-1,1 1 1,1 0-1,0 0 1,1 1-1,1 0 1,0 0-1,1 1 1,1-1-1,0 1 0,-2 29 1,3-8-6729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06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24575,'8'0'0,"11"8"0,10 11 0,16 18 0,10 12 0,-6 5 0,-2 1 0,-2-8 0,9 4 0,2 2 0,1-9 0,-10-3 0,-4-1 0,-2-7 0,0-1 0,2-6 0,-7-7-8191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07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0 738 24575,'3'-26'0,"0"0"0,2 0 0,1 1 0,1-1 0,1 1 0,17-33 0,6-25 0,-17 45 0,2 1 0,2 0 0,1 1 0,2 1 0,30-38 0,-41 58 18,-2-1-1,0 0 0,0 0 0,5-22 1,8-17-1470,-6 24-5374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09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24575,'8'8'0,"19"19"0,13 21 0,7 11 0,5 3 0,1 16 0,9 3 0,0 3 0,0-12 0,-12-2 0,-6-12 0,-11-10 0,-2-11 0,-7-5 0,1-7 0,-4-8-8191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13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24575,'2'22'0,"1"-1"0,1 0 0,0 0 0,2 0 0,11 27 0,-8-21 0,-5-16 0,9 35 0,3-1 0,2-1 0,1 0 0,49 78 0,-54-102 0,-2 0 0,0 0 0,-2 1 0,0 0 0,-1 1 0,-1 0 0,-2 1 0,0 0 0,5 38 0,-5 10 0,-4 131 0,-4-116 0,-2-36 0,-1-1 0,-16 66 0,6-41 0,6-29 0,-28 85 0,31-112 0,-2 1 0,0-1 0,-1-1 0,-1 1 0,-1-2 0,0 1 0,-15 15 0,23-29 0,0 1 0,0-1 0,-1 0 0,1 0 0,-1 0 0,1-1 0,-1 1 0,0-1 0,0 0 0,0 0 0,0 0 0,0-1 0,-1 1 0,1-1 0,0 0 0,-1-1 0,1 1 0,-1-1 0,1 1 0,-1-1 0,1 0 0,-1-1 0,1 1 0,-9-3 0,7 0 0,1 1 0,0-1 0,0 0 0,0 0 0,0 0 0,1-1 0,-1 0 0,1 0 0,0 0 0,0 0 0,0-1 0,0 1 0,1-1 0,0 0 0,0 0 0,0 0 0,1-1 0,0 1 0,-2-7 0,-1-2 0,1-2 0,1 1 0,1 0 0,0-1 0,1 1 0,0-1 0,1 1 0,4-25 0,-3 30 0,1 0 0,0-1 0,1 1 0,0 0 0,1 0 0,0 0 0,0 1 0,1-1 0,0 1 0,1 0 0,0 1 0,1-1 0,10-10 0,20-19 0,-24 23 0,1 1 0,20-15 0,-8 8-1365,-4 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20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24575,'0'817'-1365,"0"-776"-5461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23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24575,'0'8'0,"0"11"0,0 10 0,0 9 0,0 6 0,0 3 0,0 2 0,0 1 0,0-8-8191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25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24575,'8'0'0,"11"0"0,10 0 0,9 0 0,5 0 0,4 0 0,2 0 0,1 0 0,-8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27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24575,'9'0'0,"10"0"0,10 0 0,9 0 0,6 0 0,3 0 0,2 0 0,-7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29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24575,'0'8'0,"0"11"0,0 10 0,0 9 0,0 6 0,0 3 0,0 2 0,0 1 0,0 0 0,0-9-8191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3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24575,'0'8'0,"0"10"0,0 12 0,0 7 0,0 7 0,8-5 0,2-17 0,0-20 0,-1-19 0,-4-15 0,-1-9 0,-2-7 0,-1-3 0,-1-1 0,-1 0 0,1 9-8191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34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24575,'0'8'0,"0"11"0,0 11 0,0 7 0,0 7 0,0 3 0,0 3 0,0 0 0,0-1 0,0-7-8191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36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24575,'0'8'0,"0"10"0,0 12 0,0 7 0,0 7 0,0 3 0,0 3 0,0-1 0,0 1 0,0-8-8191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38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24575,'0'8'0,"0"10"0,0 12 0,0 7 0,0 7 0,0 3 0,0 3 0,0 0 0,0-8-8191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4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24575,'0'8'0,"0"10"0,0 12 0,0 7 0,0 7 0,0 3 0,0 3 0,0-1 0,0 1 0,0-8-8191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4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24575,'9'0'0,"10"0"0,10 0 0,9 0 0,6 0 0,3 0 0,2 0 0,-7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45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24575,'8'0'0,"11"0"0,10 0 0,9 0 0,6 0 0,3 0 0,2 0 0,1 0 0,0 0 0,-9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47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24575,'8'0'0,"11"0"0,10 0 0,9 0 0,6 0 0,3 0 0,2 0 0,1 0 0,-8 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4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24575,'9'0'0,"10"0"0,10 0 0,9 0 0,6 0 0,3 0 0,-6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50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24575,'9'0'0,"10"0"0,10 0 0,9 0 0,6 0 0,3 0 0,-6 0-8191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52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24575,'8'0'0,"11"0"0,10 0 0,9 0 0,6 0 0,3 0 0,-6 0-8191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5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24575,'8'0'0,"11"0"0,10 0 0,9 0 0,6 0 0,3 0 0,2 0 0,-7 0-8191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5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24575,'8'0'0,"11"0"0,10 0 0,9 0 0,6 0 0,3 0 0,2 0 0,1 0 0,0 0 0,0 0 0,-9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6:5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24575,'8'0'0,"11"0"0,2-8 0,6-3 0,6 0 0,6 3 0,5 2 0,-6 2-8191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7:04.540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0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7:11.227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0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7:16.409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 1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7:22.313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1 1 24575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7:29.207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7:38.421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0 0 24575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7:49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24575,'16'-18'0,"-1"0"0,-1-1 0,-1-1 0,-1 0 0,-1-1 0,9-22 0,15-25 0,-29 65 0,-3 14 0,-1 16 0,-6 407-1365,4-392-5461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22:17:52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0 337 24575,'1'-15'0,"0"1"0,1 0 0,0 0 0,1 1 0,1-1 0,0 1 0,1-1 0,0 1 0,1 0 0,0 1 0,12-17 0,8-34 0,-23 52 0,0 1 0,1 0 0,0 0 0,1 0 0,0 0 0,1 1 0,10-14 0,-16 23 0,0 0 0,0 0 0,0 0 0,0 0 0,1-1 0,-1 1 0,0 0 0,0 0 0,0 0 0,1 0 0,-1 0 0,0-1 0,0 1 0,0 0 0,1 0 0,-1 0 0,0 0 0,0 0 0,0 0 0,1 0 0,-1 0 0,0 0 0,0 0 0,1 0 0,-1 0 0,0 0 0,0 0 0,0 0 0,1 0 0,-1 0 0,0 0 0,0 0 0,1 0 0,-1 0 0,0 0 0,0 1 0,0-1 0,0 0 0,1 0 0,-1 0 0,0 0 0,0 0 0,1 1 0,4 12 0,-1 18 0,-4 229 67,-2-133-1499,2-85-5394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1T13:51:45.088"/>
    </inkml:context>
    <inkml:brush xml:id="br0">
      <inkml:brushProperty name="width" value="0.35" units="cm"/>
      <inkml:brushProperty name="height" value="2.1" units="cm"/>
      <inkml:brushProperty name="color" value="#333333"/>
      <inkml:brushProperty name="ignorePressure" value="1"/>
      <inkml:brushProperty name="inkEffects" value="pencil"/>
    </inkml:brush>
  </inkml:definitions>
  <inkml:trace contextRef="#ctx0" brushRef="#br0">0 1,'39'73,"19"39,4 13,-2-1,-3-4,-6-8,-6-8,-5-7,-1 0,-1 0,-1 1,1 2,1 3,-1 7,4 6,3 7,1 8,-1 6,-2 6,1 1,-6-3,-2-3,-4-4,-2-4,0-4,-2-5,2-4,0-4,3-1,3 4,2 5,7 3,2 1,2-3,-4-9,-2-8,-6-12,0-11,-2-5,-2-10,0-4,0-7,-1-1,-2-3,-2-7,-3-7,-3-4,0-4,-2-2,-1-2,0 0,-1 0,-1-3,-3 1,0-1,-1 2,-2-2,-1-3,-2-2,0-1,-2-5,2-1,-2-3,0-1,1 0,-3-4,-1 0,-1-1,0 1,2-1,-1 1,-2-1,1 0,-1-2,-1 1,0-1,2 0,2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1T13:51:46.189"/>
    </inkml:context>
    <inkml:brush xml:id="br0">
      <inkml:brushProperty name="width" value="0.35" units="cm"/>
      <inkml:brushProperty name="height" value="2.1" units="cm"/>
      <inkml:brushProperty name="color" value="#333333"/>
      <inkml:brushProperty name="ignorePressure" value="1"/>
      <inkml:brushProperty name="inkEffects" value="pencil"/>
    </inkml:brush>
  </inkml:definitions>
  <inkml:trace contextRef="#ctx0" brushRef="#br0">1 5536,'32'-78,"16"-40,8-13,1 0,-3 3,-3 7,-2 9,-2 7,-3 8,1 4,2-1,1 1,0-4,1 0,-1 0,-1-3,2 0,2-4,-3-2,2 0,-2 0,-1 1,0-1,0 0,-1-1,1-2,4-7,4-3,2-2,0 1,-2 4,-4 7,-4 6,-4 4,1 0,1 2,1-2,0 0,0 1,-1 3,-1 5,-3 2,3 1,2 0,0-1,-2 1,-3 8,-1 7,-4 4,-4 6,-1 4,-2 3,-5 7,-3 5,-3 5,-2 6,-5 3,-1 4,-3 4,1 4,-2 1,1 2,-1 2,-2-1,-1 3,-1 2,-2 1,0-1,0-1,0-2,2 2,1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2BCE2-B3B9-4ACA-BC48-3CA9DF6BABF3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C20B4-4300-48FA-B39B-EA100B59B6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695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C20B4-4300-48FA-B39B-EA100B59B6E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807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C20B4-4300-48FA-B39B-EA100B59B6E4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735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FCFC4-396E-D3C9-A4F2-436F6CE7F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8E2370-36A5-88A2-9421-291A587DD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F7140F-02E6-C569-D9E4-E6712A02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CAC503-96AD-08E4-6BDA-007A26E1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DA5992-EF55-5C06-3F36-EE4638B29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80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0010D5-5A93-10D0-818B-44B572ED7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E8A0AB-9C16-6A24-00EF-220B85F25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D8E662-EC46-B926-F789-DF44A3E23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26523B-E5B2-EF77-8245-E756C0D7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8FEB19-F5DB-9AB7-2A1C-DD596029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72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E0790-0859-10E8-D5E3-C7094DB4F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3A0B14-06E2-F679-9D5F-F5305607F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80C16D-3B92-A882-5E82-04E94196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1F4FD8-3967-DA35-7A58-8DC926D7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1CBB23-443B-F2F4-074B-B5ABC6845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680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D5FC99-93D6-FB35-2120-430AE8DF7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367767-6947-7C33-430E-22B62B9332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DD2FD4-AE25-E7CA-81BF-F83FC0568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53FD49-806D-5CAD-CAAF-432B997A9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7275B0-CABE-B9E1-E366-E630831C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0761E8-6F45-0467-7F3E-5F254FA12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668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D9F6E-49F2-36AC-A659-888CBD500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AA7A23-5C16-A2C8-B3B2-4F4573C01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BFECF0B-CD5D-2FCD-7157-32295113C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781B6B3-D697-C72C-1221-A1CE47DA2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4BDFDCB-239A-38FE-4F44-292C31A52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09C9324-92DF-2712-86D5-1C791E2A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4BBF5E6-A664-F679-D4A9-E7A4BBF8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5DFF9B5-2BA1-D175-380E-244C5D3B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091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C4FA1-6F71-2345-11E4-E0E8C2C1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BCB994-07AC-807C-C823-61F4B7F1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B9BB8A7-BB0F-15F1-08A6-FAE13B92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AB66D57-F2A3-B384-7111-557F7087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603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6D9217C-4985-CD37-B49A-276D976C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3EDB5D1-CAD2-8033-E08C-1D5415C0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3B5BFB-0B61-2D66-8CC9-59859865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76F908-5CAE-4EB2-9828-8432889D7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4974C6-92F0-CA23-6B8D-5563D8E55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0FEF28-89B2-0956-F148-2E7DB551C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6BEDED-A4A4-1AAC-2A6A-B9959F79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F0BD92-2B6F-E422-66B2-4FC2F892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DC717F-F2A8-AE5B-CFF1-914782319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60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805A28-45C8-AD44-BCC0-42A29F569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52BA97-8DAB-2682-3B08-7FC596FD3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5B10F0-0BF9-5682-CA17-44744A950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78CACA-52AF-B300-FDF9-5CD57D400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E24B3F-FAA8-6FB0-BE79-0CC5BD7EB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17A49B-DBCA-ECB9-AFB1-DEF580548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95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FBBAA-C7D7-6E1E-7E57-EA3FEA42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7DBEF8-0520-D831-011C-A9B2205D4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02C7C7-AED4-FA2B-4954-7E9ABB2C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B4450-F09D-0889-4D5A-C31C8625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FD56C2-D60A-D7FB-5AB4-4BEFDD1F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89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6F1CB23-42FF-AEC3-4CAF-45B578E5F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05C57E-7B5A-9D1E-A6A3-6D259B37B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D9BCA5-1CA2-9081-1832-16BD5438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0A949E-A024-A5B6-3643-EE2888EE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2341B-BDD9-23D6-1997-ACDAF6E9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194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39366-4BCE-6764-B148-8D02F3925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2D35BA-D6BE-61C9-8759-36DE0282D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5FE4B2-8A55-5D5D-6FD3-E183A9803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4899E-C3C4-40CC-8794-AFCBE1F445D8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1E4168-0C11-2603-C6C9-91E46BC1F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76014F-452E-31CE-CC4C-C968E2272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8B3539-B270-444F-93EF-195E91C50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83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7.png"/><Relationship Id="rId21" Type="http://schemas.openxmlformats.org/officeDocument/2006/relationships/image" Target="../media/image11.png"/><Relationship Id="rId34" Type="http://schemas.openxmlformats.org/officeDocument/2006/relationships/customXml" Target="../ink/ink19.xml"/><Relationship Id="rId42" Type="http://schemas.openxmlformats.org/officeDocument/2006/relationships/customXml" Target="../ink/ink25.xml"/><Relationship Id="rId47" Type="http://schemas.openxmlformats.org/officeDocument/2006/relationships/customXml" Target="../ink/ink28.xml"/><Relationship Id="rId50" Type="http://schemas.openxmlformats.org/officeDocument/2006/relationships/customXml" Target="../ink/ink30.xml"/><Relationship Id="rId55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2.xml"/><Relationship Id="rId32" Type="http://schemas.openxmlformats.org/officeDocument/2006/relationships/customXml" Target="../ink/ink17.xml"/><Relationship Id="rId37" Type="http://schemas.openxmlformats.org/officeDocument/2006/relationships/customXml" Target="../ink/ink21.xml"/><Relationship Id="rId40" Type="http://schemas.openxmlformats.org/officeDocument/2006/relationships/customXml" Target="../ink/ink23.xml"/><Relationship Id="rId45" Type="http://schemas.openxmlformats.org/officeDocument/2006/relationships/customXml" Target="../ink/ink27.xml"/><Relationship Id="rId53" Type="http://schemas.openxmlformats.org/officeDocument/2006/relationships/customXml" Target="../ink/ink33.xml"/><Relationship Id="rId58" Type="http://schemas.openxmlformats.org/officeDocument/2006/relationships/image" Target="../media/image1.png"/><Relationship Id="rId5" Type="http://schemas.openxmlformats.org/officeDocument/2006/relationships/image" Target="../media/image3.png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30" Type="http://schemas.openxmlformats.org/officeDocument/2006/relationships/customXml" Target="../ink/ink15.xml"/><Relationship Id="rId35" Type="http://schemas.openxmlformats.org/officeDocument/2006/relationships/customXml" Target="../ink/ink20.xml"/><Relationship Id="rId43" Type="http://schemas.openxmlformats.org/officeDocument/2006/relationships/customXml" Target="../ink/ink26.xml"/><Relationship Id="rId48" Type="http://schemas.openxmlformats.org/officeDocument/2006/relationships/image" Target="../media/image20.png"/><Relationship Id="rId56" Type="http://schemas.openxmlformats.org/officeDocument/2006/relationships/customXml" Target="../ink/ink35.xml"/><Relationship Id="rId8" Type="http://schemas.openxmlformats.org/officeDocument/2006/relationships/customXml" Target="../ink/ink4.xml"/><Relationship Id="rId51" Type="http://schemas.openxmlformats.org/officeDocument/2006/relationships/customXml" Target="../ink/ink31.xml"/><Relationship Id="rId3" Type="http://schemas.openxmlformats.org/officeDocument/2006/relationships/image" Target="../media/image29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customXml" Target="../ink/ink18.xml"/><Relationship Id="rId38" Type="http://schemas.openxmlformats.org/officeDocument/2006/relationships/customXml" Target="../ink/ink22.xml"/><Relationship Id="rId46" Type="http://schemas.openxmlformats.org/officeDocument/2006/relationships/image" Target="../media/image19.png"/><Relationship Id="rId20" Type="http://schemas.openxmlformats.org/officeDocument/2006/relationships/customXml" Target="../ink/ink10.xml"/><Relationship Id="rId41" Type="http://schemas.openxmlformats.org/officeDocument/2006/relationships/customXml" Target="../ink/ink24.xml"/><Relationship Id="rId54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36" Type="http://schemas.openxmlformats.org/officeDocument/2006/relationships/image" Target="../media/image16.png"/><Relationship Id="rId49" Type="http://schemas.openxmlformats.org/officeDocument/2006/relationships/customXml" Target="../ink/ink29.xml"/><Relationship Id="rId57" Type="http://schemas.openxmlformats.org/officeDocument/2006/relationships/image" Target="../media/image22.png"/><Relationship Id="rId10" Type="http://schemas.openxmlformats.org/officeDocument/2006/relationships/customXml" Target="../ink/ink5.xml"/><Relationship Id="rId31" Type="http://schemas.openxmlformats.org/officeDocument/2006/relationships/customXml" Target="../ink/ink16.xml"/><Relationship Id="rId44" Type="http://schemas.openxmlformats.org/officeDocument/2006/relationships/image" Target="../media/image18.png"/><Relationship Id="rId52" Type="http://schemas.openxmlformats.org/officeDocument/2006/relationships/customXml" Target="../ink/ink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3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7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9.png"/><Relationship Id="rId5" Type="http://schemas.openxmlformats.org/officeDocument/2006/relationships/customXml" Target="../ink/ink37.xml"/><Relationship Id="rId4" Type="http://schemas.openxmlformats.org/officeDocument/2006/relationships/image" Target="../media/image238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E4576-1984-0E70-01C9-4DD13C2CA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4119"/>
            <a:ext cx="9144000" cy="1289761"/>
          </a:xfrm>
        </p:spPr>
        <p:txBody>
          <a:bodyPr/>
          <a:lstStyle/>
          <a:p>
            <a:r>
              <a:rPr lang="ru-RU" dirty="0"/>
              <a:t>Линейная регрессия</a:t>
            </a:r>
          </a:p>
        </p:txBody>
      </p:sp>
    </p:spTree>
    <p:extLst>
      <p:ext uri="{BB962C8B-B14F-4D97-AF65-F5344CB8AC3E}">
        <p14:creationId xmlns:p14="http://schemas.microsoft.com/office/powerpoint/2010/main" val="130237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03B06-0FD6-62A1-C965-00381C5B2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Линейная регрессия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9EE444-AA3A-FE3B-E190-FE63194BF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072"/>
            <a:ext cx="10515600" cy="466789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Позволяет выявить линейную связь между переменными, и использовать ее для прогнозирования (!)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63D7D7D-02A3-DFBD-F386-A337A31B3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326655"/>
              </p:ext>
            </p:extLst>
          </p:nvPr>
        </p:nvGraphicFramePr>
        <p:xfrm>
          <a:off x="838200" y="3316407"/>
          <a:ext cx="1559944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9972">
                  <a:extLst>
                    <a:ext uri="{9D8B030D-6E8A-4147-A177-3AD203B41FA5}">
                      <a16:colId xmlns:a16="http://schemas.microsoft.com/office/drawing/2014/main" val="47845285"/>
                    </a:ext>
                  </a:extLst>
                </a:gridCol>
                <a:gridCol w="779972">
                  <a:extLst>
                    <a:ext uri="{9D8B030D-6E8A-4147-A177-3AD203B41FA5}">
                      <a16:colId xmlns:a16="http://schemas.microsoft.com/office/drawing/2014/main" val="3433293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74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2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556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992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323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80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863571"/>
                  </a:ext>
                </a:extLst>
              </a:tr>
            </a:tbl>
          </a:graphicData>
        </a:graphic>
      </p:graphicFrame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78A9535B-8C27-C487-E1BD-E63F028077F4}"/>
              </a:ext>
            </a:extLst>
          </p:cNvPr>
          <p:cNvGrpSpPr/>
          <p:nvPr/>
        </p:nvGrpSpPr>
        <p:grpSpPr>
          <a:xfrm>
            <a:off x="3258754" y="2622288"/>
            <a:ext cx="434880" cy="3967560"/>
            <a:chOff x="3258754" y="2622288"/>
            <a:chExt cx="434880" cy="39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7" name="Рукописный ввод 46">
                  <a:extLst>
                    <a:ext uri="{FF2B5EF4-FFF2-40B4-BE49-F238E27FC236}">
                      <a16:creationId xmlns:a16="http://schemas.microsoft.com/office/drawing/2014/main" id="{3867F569-627D-9B55-F3BA-CEE0591D8EB0}"/>
                    </a:ext>
                  </a:extLst>
                </p14:cNvPr>
                <p14:cNvContentPartPr/>
                <p14:nvPr/>
              </p14:nvContentPartPr>
              <p14:xfrm>
                <a:off x="3330034" y="2725968"/>
                <a:ext cx="363600" cy="3863880"/>
              </p14:xfrm>
            </p:contentPart>
          </mc:Choice>
          <mc:Fallback xmlns="">
            <p:pic>
              <p:nvPicPr>
                <p:cNvPr id="47" name="Рукописный ввод 46">
                  <a:extLst>
                    <a:ext uri="{FF2B5EF4-FFF2-40B4-BE49-F238E27FC236}">
                      <a16:creationId xmlns:a16="http://schemas.microsoft.com/office/drawing/2014/main" id="{3867F569-627D-9B55-F3BA-CEE0591D8EB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21034" y="2716968"/>
                  <a:ext cx="381240" cy="38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8" name="Рукописный ввод 47">
                  <a:extLst>
                    <a:ext uri="{FF2B5EF4-FFF2-40B4-BE49-F238E27FC236}">
                      <a16:creationId xmlns:a16="http://schemas.microsoft.com/office/drawing/2014/main" id="{16A35E09-69C7-C32E-F5B3-05ADB3680601}"/>
                    </a:ext>
                  </a:extLst>
                </p14:cNvPr>
                <p14:cNvContentPartPr/>
                <p14:nvPr/>
              </p14:nvContentPartPr>
              <p14:xfrm>
                <a:off x="3258754" y="2622288"/>
                <a:ext cx="167760" cy="305640"/>
              </p14:xfrm>
            </p:contentPart>
          </mc:Choice>
          <mc:Fallback xmlns="">
            <p:pic>
              <p:nvPicPr>
                <p:cNvPr id="48" name="Рукописный ввод 47">
                  <a:extLst>
                    <a:ext uri="{FF2B5EF4-FFF2-40B4-BE49-F238E27FC236}">
                      <a16:creationId xmlns:a16="http://schemas.microsoft.com/office/drawing/2014/main" id="{16A35E09-69C7-C32E-F5B3-05ADB36806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49754" y="2613288"/>
                  <a:ext cx="18540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D97BD3E2-3F6F-59EB-5CAE-1043FABBC23D}"/>
              </a:ext>
            </a:extLst>
          </p:cNvPr>
          <p:cNvGrpSpPr/>
          <p:nvPr/>
        </p:nvGrpSpPr>
        <p:grpSpPr>
          <a:xfrm>
            <a:off x="3174514" y="5865528"/>
            <a:ext cx="4588200" cy="604440"/>
            <a:chOff x="3174514" y="5865528"/>
            <a:chExt cx="4588200" cy="60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0" name="Рукописный ввод 49">
                  <a:extLst>
                    <a:ext uri="{FF2B5EF4-FFF2-40B4-BE49-F238E27FC236}">
                      <a16:creationId xmlns:a16="http://schemas.microsoft.com/office/drawing/2014/main" id="{54E22CC6-2B6E-0829-84F1-6663AB1AE9E6}"/>
                    </a:ext>
                  </a:extLst>
                </p14:cNvPr>
                <p14:cNvContentPartPr/>
                <p14:nvPr/>
              </p14:nvContentPartPr>
              <p14:xfrm>
                <a:off x="3174514" y="5903688"/>
                <a:ext cx="4218840" cy="135720"/>
              </p14:xfrm>
            </p:contentPart>
          </mc:Choice>
          <mc:Fallback xmlns="">
            <p:pic>
              <p:nvPicPr>
                <p:cNvPr id="50" name="Рукописный ввод 49">
                  <a:extLst>
                    <a:ext uri="{FF2B5EF4-FFF2-40B4-BE49-F238E27FC236}">
                      <a16:creationId xmlns:a16="http://schemas.microsoft.com/office/drawing/2014/main" id="{54E22CC6-2B6E-0829-84F1-6663AB1AE9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65874" y="5895048"/>
                  <a:ext cx="42364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1" name="Рукописный ввод 50">
                  <a:extLst>
                    <a:ext uri="{FF2B5EF4-FFF2-40B4-BE49-F238E27FC236}">
                      <a16:creationId xmlns:a16="http://schemas.microsoft.com/office/drawing/2014/main" id="{91E2C89B-20FE-333B-3E2E-4DCFA6B8DA4B}"/>
                    </a:ext>
                  </a:extLst>
                </p14:cNvPr>
                <p14:cNvContentPartPr/>
                <p14:nvPr/>
              </p14:nvContentPartPr>
              <p14:xfrm>
                <a:off x="7193914" y="5865528"/>
                <a:ext cx="323640" cy="360000"/>
              </p14:xfrm>
            </p:contentPart>
          </mc:Choice>
          <mc:Fallback xmlns="">
            <p:pic>
              <p:nvPicPr>
                <p:cNvPr id="51" name="Рукописный ввод 50">
                  <a:extLst>
                    <a:ext uri="{FF2B5EF4-FFF2-40B4-BE49-F238E27FC236}">
                      <a16:creationId xmlns:a16="http://schemas.microsoft.com/office/drawing/2014/main" id="{91E2C89B-20FE-333B-3E2E-4DCFA6B8DA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85274" y="5856888"/>
                  <a:ext cx="3412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3" name="Рукописный ввод 52">
                  <a:extLst>
                    <a:ext uri="{FF2B5EF4-FFF2-40B4-BE49-F238E27FC236}">
                      <a16:creationId xmlns:a16="http://schemas.microsoft.com/office/drawing/2014/main" id="{BF3755C9-8424-6239-9070-023744A02DE0}"/>
                    </a:ext>
                  </a:extLst>
                </p14:cNvPr>
                <p14:cNvContentPartPr/>
                <p14:nvPr/>
              </p14:nvContentPartPr>
              <p14:xfrm>
                <a:off x="7504954" y="6228048"/>
                <a:ext cx="257760" cy="219240"/>
              </p14:xfrm>
            </p:contentPart>
          </mc:Choice>
          <mc:Fallback xmlns="">
            <p:pic>
              <p:nvPicPr>
                <p:cNvPr id="53" name="Рукописный ввод 52">
                  <a:extLst>
                    <a:ext uri="{FF2B5EF4-FFF2-40B4-BE49-F238E27FC236}">
                      <a16:creationId xmlns:a16="http://schemas.microsoft.com/office/drawing/2014/main" id="{BF3755C9-8424-6239-9070-023744A02DE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96314" y="6219408"/>
                  <a:ext cx="275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4" name="Рукописный ввод 53">
                  <a:extLst>
                    <a:ext uri="{FF2B5EF4-FFF2-40B4-BE49-F238E27FC236}">
                      <a16:creationId xmlns:a16="http://schemas.microsoft.com/office/drawing/2014/main" id="{75175275-0F4D-FDC5-F117-3A5F99A8A5AC}"/>
                    </a:ext>
                  </a:extLst>
                </p14:cNvPr>
                <p14:cNvContentPartPr/>
                <p14:nvPr/>
              </p14:nvContentPartPr>
              <p14:xfrm>
                <a:off x="7591354" y="6203928"/>
                <a:ext cx="111960" cy="266040"/>
              </p14:xfrm>
            </p:contentPart>
          </mc:Choice>
          <mc:Fallback xmlns="">
            <p:pic>
              <p:nvPicPr>
                <p:cNvPr id="54" name="Рукописный ввод 53">
                  <a:extLst>
                    <a:ext uri="{FF2B5EF4-FFF2-40B4-BE49-F238E27FC236}">
                      <a16:creationId xmlns:a16="http://schemas.microsoft.com/office/drawing/2014/main" id="{75175275-0F4D-FDC5-F117-3A5F99A8A5A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82354" y="6194928"/>
                  <a:ext cx="129600" cy="2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6" name="Рукописный ввод 55">
                <a:extLst>
                  <a:ext uri="{FF2B5EF4-FFF2-40B4-BE49-F238E27FC236}">
                    <a16:creationId xmlns:a16="http://schemas.microsoft.com/office/drawing/2014/main" id="{65D0551E-1856-3CF5-9B5C-89FF650980B5}"/>
                  </a:ext>
                </a:extLst>
              </p14:cNvPr>
              <p14:cNvContentPartPr/>
              <p14:nvPr/>
            </p14:nvContentPartPr>
            <p14:xfrm>
              <a:off x="2725954" y="2760528"/>
              <a:ext cx="231120" cy="290520"/>
            </p14:xfrm>
          </p:contentPart>
        </mc:Choice>
        <mc:Fallback xmlns="">
          <p:pic>
            <p:nvPicPr>
              <p:cNvPr id="56" name="Рукописный ввод 55">
                <a:extLst>
                  <a:ext uri="{FF2B5EF4-FFF2-40B4-BE49-F238E27FC236}">
                    <a16:creationId xmlns:a16="http://schemas.microsoft.com/office/drawing/2014/main" id="{65D0551E-1856-3CF5-9B5C-89FF650980B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17314" y="2751528"/>
                <a:ext cx="2487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Рукописный ввод 56">
                <a:extLst>
                  <a:ext uri="{FF2B5EF4-FFF2-40B4-BE49-F238E27FC236}">
                    <a16:creationId xmlns:a16="http://schemas.microsoft.com/office/drawing/2014/main" id="{877D0BFC-4FD5-3E4A-172F-D887D2C79890}"/>
                  </a:ext>
                </a:extLst>
              </p14:cNvPr>
              <p14:cNvContentPartPr/>
              <p14:nvPr/>
            </p14:nvContentPartPr>
            <p14:xfrm>
              <a:off x="2845474" y="2725968"/>
              <a:ext cx="140040" cy="634680"/>
            </p14:xfrm>
          </p:contentPart>
        </mc:Choice>
        <mc:Fallback xmlns="">
          <p:pic>
            <p:nvPicPr>
              <p:cNvPr id="57" name="Рукописный ввод 56">
                <a:extLst>
                  <a:ext uri="{FF2B5EF4-FFF2-40B4-BE49-F238E27FC236}">
                    <a16:creationId xmlns:a16="http://schemas.microsoft.com/office/drawing/2014/main" id="{877D0BFC-4FD5-3E4A-172F-D887D2C7989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36474" y="2716968"/>
                <a:ext cx="157680" cy="65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Рукописный ввод 57">
                <a:extLst>
                  <a:ext uri="{FF2B5EF4-FFF2-40B4-BE49-F238E27FC236}">
                    <a16:creationId xmlns:a16="http://schemas.microsoft.com/office/drawing/2014/main" id="{1B0504AA-E927-9A82-D510-DA7444BAB9BD}"/>
                  </a:ext>
                </a:extLst>
              </p14:cNvPr>
              <p14:cNvContentPartPr/>
              <p14:nvPr/>
            </p14:nvContentPartPr>
            <p14:xfrm>
              <a:off x="3691834" y="6538368"/>
              <a:ext cx="360" cy="309240"/>
            </p14:xfrm>
          </p:contentPart>
        </mc:Choice>
        <mc:Fallback xmlns="">
          <p:pic>
            <p:nvPicPr>
              <p:cNvPr id="58" name="Рукописный ввод 57">
                <a:extLst>
                  <a:ext uri="{FF2B5EF4-FFF2-40B4-BE49-F238E27FC236}">
                    <a16:creationId xmlns:a16="http://schemas.microsoft.com/office/drawing/2014/main" id="{1B0504AA-E927-9A82-D510-DA7444BAB9B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82834" y="6529728"/>
                <a:ext cx="18000" cy="32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2A515A76-BC0D-FD82-4064-D914FC9C6DA6}"/>
              </a:ext>
            </a:extLst>
          </p:cNvPr>
          <p:cNvGrpSpPr/>
          <p:nvPr/>
        </p:nvGrpSpPr>
        <p:grpSpPr>
          <a:xfrm>
            <a:off x="3554314" y="5934648"/>
            <a:ext cx="379800" cy="707760"/>
            <a:chOff x="3554314" y="5934648"/>
            <a:chExt cx="379800" cy="70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9" name="Рукописный ввод 58">
                  <a:extLst>
                    <a:ext uri="{FF2B5EF4-FFF2-40B4-BE49-F238E27FC236}">
                      <a16:creationId xmlns:a16="http://schemas.microsoft.com/office/drawing/2014/main" id="{631EC7AC-1AAA-5FF0-1341-F9A7DA438E86}"/>
                    </a:ext>
                  </a:extLst>
                </p14:cNvPr>
                <p14:cNvContentPartPr/>
                <p14:nvPr/>
              </p14:nvContentPartPr>
              <p14:xfrm>
                <a:off x="3933754" y="5934648"/>
                <a:ext cx="360" cy="117720"/>
              </p14:xfrm>
            </p:contentPart>
          </mc:Choice>
          <mc:Fallback xmlns="">
            <p:pic>
              <p:nvPicPr>
                <p:cNvPr id="59" name="Рукописный ввод 58">
                  <a:extLst>
                    <a:ext uri="{FF2B5EF4-FFF2-40B4-BE49-F238E27FC236}">
                      <a16:creationId xmlns:a16="http://schemas.microsoft.com/office/drawing/2014/main" id="{631EC7AC-1AAA-5FF0-1341-F9A7DA438E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24754" y="5926008"/>
                  <a:ext cx="18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0" name="Рукописный ввод 59">
                  <a:extLst>
                    <a:ext uri="{FF2B5EF4-FFF2-40B4-BE49-F238E27FC236}">
                      <a16:creationId xmlns:a16="http://schemas.microsoft.com/office/drawing/2014/main" id="{7E2507ED-8E22-AF75-9063-E712E7E81F5E}"/>
                    </a:ext>
                  </a:extLst>
                </p14:cNvPr>
                <p14:cNvContentPartPr/>
                <p14:nvPr/>
              </p14:nvContentPartPr>
              <p14:xfrm>
                <a:off x="3554314" y="6297168"/>
                <a:ext cx="117360" cy="360"/>
              </p14:xfrm>
            </p:contentPart>
          </mc:Choice>
          <mc:Fallback xmlns="">
            <p:pic>
              <p:nvPicPr>
                <p:cNvPr id="60" name="Рукописный ввод 59">
                  <a:extLst>
                    <a:ext uri="{FF2B5EF4-FFF2-40B4-BE49-F238E27FC236}">
                      <a16:creationId xmlns:a16="http://schemas.microsoft.com/office/drawing/2014/main" id="{7E2507ED-8E22-AF75-9063-E712E7E81F5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45314" y="6288528"/>
                  <a:ext cx="135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1" name="Рукописный ввод 60">
                  <a:extLst>
                    <a:ext uri="{FF2B5EF4-FFF2-40B4-BE49-F238E27FC236}">
                      <a16:creationId xmlns:a16="http://schemas.microsoft.com/office/drawing/2014/main" id="{04A25859-8996-F1F8-F049-34089580C548}"/>
                    </a:ext>
                  </a:extLst>
                </p14:cNvPr>
                <p14:cNvContentPartPr/>
                <p14:nvPr/>
              </p14:nvContentPartPr>
              <p14:xfrm>
                <a:off x="3657274" y="6642048"/>
                <a:ext cx="100080" cy="360"/>
              </p14:xfrm>
            </p:contentPart>
          </mc:Choice>
          <mc:Fallback xmlns="">
            <p:pic>
              <p:nvPicPr>
                <p:cNvPr id="61" name="Рукописный ввод 60">
                  <a:extLst>
                    <a:ext uri="{FF2B5EF4-FFF2-40B4-BE49-F238E27FC236}">
                      <a16:creationId xmlns:a16="http://schemas.microsoft.com/office/drawing/2014/main" id="{04A25859-8996-F1F8-F049-34089580C54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48274" y="6633408"/>
                  <a:ext cx="1177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0F2D4FDF-4A96-1B1E-A7B9-E379C1154D50}"/>
              </a:ext>
            </a:extLst>
          </p:cNvPr>
          <p:cNvGrpSpPr/>
          <p:nvPr/>
        </p:nvGrpSpPr>
        <p:grpSpPr>
          <a:xfrm>
            <a:off x="4313194" y="5848608"/>
            <a:ext cx="1656720" cy="187200"/>
            <a:chOff x="4313194" y="5848608"/>
            <a:chExt cx="1656720" cy="1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3" name="Рукописный ввод 62">
                  <a:extLst>
                    <a:ext uri="{FF2B5EF4-FFF2-40B4-BE49-F238E27FC236}">
                      <a16:creationId xmlns:a16="http://schemas.microsoft.com/office/drawing/2014/main" id="{D623315C-228E-7169-58A2-B37A06D469CC}"/>
                    </a:ext>
                  </a:extLst>
                </p14:cNvPr>
                <p14:cNvContentPartPr/>
                <p14:nvPr/>
              </p14:nvContentPartPr>
              <p14:xfrm>
                <a:off x="4313194" y="5900088"/>
                <a:ext cx="360" cy="135720"/>
              </p14:xfrm>
            </p:contentPart>
          </mc:Choice>
          <mc:Fallback xmlns="">
            <p:pic>
              <p:nvPicPr>
                <p:cNvPr id="63" name="Рукописный ввод 62">
                  <a:extLst>
                    <a:ext uri="{FF2B5EF4-FFF2-40B4-BE49-F238E27FC236}">
                      <a16:creationId xmlns:a16="http://schemas.microsoft.com/office/drawing/2014/main" id="{D623315C-228E-7169-58A2-B37A06D469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04194" y="5891448"/>
                  <a:ext cx="18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4" name="Рукописный ввод 63">
                  <a:extLst>
                    <a:ext uri="{FF2B5EF4-FFF2-40B4-BE49-F238E27FC236}">
                      <a16:creationId xmlns:a16="http://schemas.microsoft.com/office/drawing/2014/main" id="{EC09F27A-582D-3D21-AE0E-BCD386E22A73}"/>
                    </a:ext>
                  </a:extLst>
                </p14:cNvPr>
                <p14:cNvContentPartPr/>
                <p14:nvPr/>
              </p14:nvContentPartPr>
              <p14:xfrm>
                <a:off x="4623514" y="5869128"/>
                <a:ext cx="18000" cy="120960"/>
              </p14:xfrm>
            </p:contentPart>
          </mc:Choice>
          <mc:Fallback xmlns="">
            <p:pic>
              <p:nvPicPr>
                <p:cNvPr id="64" name="Рукописный ввод 63">
                  <a:extLst>
                    <a:ext uri="{FF2B5EF4-FFF2-40B4-BE49-F238E27FC236}">
                      <a16:creationId xmlns:a16="http://schemas.microsoft.com/office/drawing/2014/main" id="{EC09F27A-582D-3D21-AE0E-BCD386E22A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14874" y="5860128"/>
                  <a:ext cx="356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6" name="Рукописный ввод 65">
                  <a:extLst>
                    <a:ext uri="{FF2B5EF4-FFF2-40B4-BE49-F238E27FC236}">
                      <a16:creationId xmlns:a16="http://schemas.microsoft.com/office/drawing/2014/main" id="{318616B7-9103-4560-862E-17BBB891D222}"/>
                    </a:ext>
                  </a:extLst>
                </p14:cNvPr>
                <p14:cNvContentPartPr/>
                <p14:nvPr/>
              </p14:nvContentPartPr>
              <p14:xfrm>
                <a:off x="4968394" y="5865528"/>
                <a:ext cx="360" cy="135720"/>
              </p14:xfrm>
            </p:contentPart>
          </mc:Choice>
          <mc:Fallback xmlns="">
            <p:pic>
              <p:nvPicPr>
                <p:cNvPr id="66" name="Рукописный ввод 65">
                  <a:extLst>
                    <a:ext uri="{FF2B5EF4-FFF2-40B4-BE49-F238E27FC236}">
                      <a16:creationId xmlns:a16="http://schemas.microsoft.com/office/drawing/2014/main" id="{318616B7-9103-4560-862E-17BBB891D22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59754" y="5856888"/>
                  <a:ext cx="18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68" name="Рукописный ввод 67">
                  <a:extLst>
                    <a:ext uri="{FF2B5EF4-FFF2-40B4-BE49-F238E27FC236}">
                      <a16:creationId xmlns:a16="http://schemas.microsoft.com/office/drawing/2014/main" id="{756F5931-65D7-8A9D-F785-7606BE2146D7}"/>
                    </a:ext>
                  </a:extLst>
                </p14:cNvPr>
                <p14:cNvContentPartPr/>
                <p14:nvPr/>
              </p14:nvContentPartPr>
              <p14:xfrm>
                <a:off x="5296354" y="5883168"/>
                <a:ext cx="360" cy="135360"/>
              </p14:xfrm>
            </p:contentPart>
          </mc:Choice>
          <mc:Fallback xmlns="">
            <p:pic>
              <p:nvPicPr>
                <p:cNvPr id="68" name="Рукописный ввод 67">
                  <a:extLst>
                    <a:ext uri="{FF2B5EF4-FFF2-40B4-BE49-F238E27FC236}">
                      <a16:creationId xmlns:a16="http://schemas.microsoft.com/office/drawing/2014/main" id="{756F5931-65D7-8A9D-F785-7606BE2146D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87714" y="5874528"/>
                  <a:ext cx="18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0" name="Рукописный ввод 69">
                  <a:extLst>
                    <a:ext uri="{FF2B5EF4-FFF2-40B4-BE49-F238E27FC236}">
                      <a16:creationId xmlns:a16="http://schemas.microsoft.com/office/drawing/2014/main" id="{48BCEF8C-D93A-CE75-5EF9-8B25E9667B91}"/>
                    </a:ext>
                  </a:extLst>
                </p14:cNvPr>
                <p14:cNvContentPartPr/>
                <p14:nvPr/>
              </p14:nvContentPartPr>
              <p14:xfrm>
                <a:off x="5607034" y="5848608"/>
                <a:ext cx="360" cy="117720"/>
              </p14:xfrm>
            </p:contentPart>
          </mc:Choice>
          <mc:Fallback xmlns="">
            <p:pic>
              <p:nvPicPr>
                <p:cNvPr id="70" name="Рукописный ввод 69">
                  <a:extLst>
                    <a:ext uri="{FF2B5EF4-FFF2-40B4-BE49-F238E27FC236}">
                      <a16:creationId xmlns:a16="http://schemas.microsoft.com/office/drawing/2014/main" id="{48BCEF8C-D93A-CE75-5EF9-8B25E9667B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98034" y="5839968"/>
                  <a:ext cx="18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2" name="Рукописный ввод 71">
                  <a:extLst>
                    <a:ext uri="{FF2B5EF4-FFF2-40B4-BE49-F238E27FC236}">
                      <a16:creationId xmlns:a16="http://schemas.microsoft.com/office/drawing/2014/main" id="{582538CD-06D6-D3B8-6E17-144909B6D84B}"/>
                    </a:ext>
                  </a:extLst>
                </p14:cNvPr>
                <p14:cNvContentPartPr/>
                <p14:nvPr/>
              </p14:nvContentPartPr>
              <p14:xfrm>
                <a:off x="5969554" y="5883168"/>
                <a:ext cx="360" cy="135360"/>
              </p14:xfrm>
            </p:contentPart>
          </mc:Choice>
          <mc:Fallback xmlns="">
            <p:pic>
              <p:nvPicPr>
                <p:cNvPr id="72" name="Рукописный ввод 71">
                  <a:extLst>
                    <a:ext uri="{FF2B5EF4-FFF2-40B4-BE49-F238E27FC236}">
                      <a16:creationId xmlns:a16="http://schemas.microsoft.com/office/drawing/2014/main" id="{582538CD-06D6-D3B8-6E17-144909B6D84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60554" y="5874528"/>
                  <a:ext cx="1800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4" name="Рукописный ввод 73">
                <a:extLst>
                  <a:ext uri="{FF2B5EF4-FFF2-40B4-BE49-F238E27FC236}">
                    <a16:creationId xmlns:a16="http://schemas.microsoft.com/office/drawing/2014/main" id="{09013B94-150C-478E-DA98-350662843811}"/>
                  </a:ext>
                </a:extLst>
              </p14:cNvPr>
              <p14:cNvContentPartPr/>
              <p14:nvPr/>
            </p14:nvContentPartPr>
            <p14:xfrm>
              <a:off x="3502114" y="5624328"/>
              <a:ext cx="99720" cy="360"/>
            </p14:xfrm>
          </p:contentPart>
        </mc:Choice>
        <mc:Fallback xmlns="">
          <p:pic>
            <p:nvPicPr>
              <p:cNvPr id="74" name="Рукописный ввод 73">
                <a:extLst>
                  <a:ext uri="{FF2B5EF4-FFF2-40B4-BE49-F238E27FC236}">
                    <a16:creationId xmlns:a16="http://schemas.microsoft.com/office/drawing/2014/main" id="{09013B94-150C-478E-DA98-3506628438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93114" y="5615328"/>
                <a:ext cx="117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5" name="Рукописный ввод 74">
                <a:extLst>
                  <a:ext uri="{FF2B5EF4-FFF2-40B4-BE49-F238E27FC236}">
                    <a16:creationId xmlns:a16="http://schemas.microsoft.com/office/drawing/2014/main" id="{C132897B-CC50-5CC1-EA63-F492F16B13F7}"/>
                  </a:ext>
                </a:extLst>
              </p14:cNvPr>
              <p14:cNvContentPartPr/>
              <p14:nvPr/>
            </p14:nvContentPartPr>
            <p14:xfrm>
              <a:off x="3485194" y="5348568"/>
              <a:ext cx="135360" cy="360"/>
            </p14:xfrm>
          </p:contentPart>
        </mc:Choice>
        <mc:Fallback xmlns="">
          <p:pic>
            <p:nvPicPr>
              <p:cNvPr id="75" name="Рукописный ввод 74">
                <a:extLst>
                  <a:ext uri="{FF2B5EF4-FFF2-40B4-BE49-F238E27FC236}">
                    <a16:creationId xmlns:a16="http://schemas.microsoft.com/office/drawing/2014/main" id="{C132897B-CC50-5CC1-EA63-F492F16B13F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476194" y="5339568"/>
                <a:ext cx="153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6" name="Рукописный ввод 75">
                <a:extLst>
                  <a:ext uri="{FF2B5EF4-FFF2-40B4-BE49-F238E27FC236}">
                    <a16:creationId xmlns:a16="http://schemas.microsoft.com/office/drawing/2014/main" id="{EB1037D3-C308-48EB-5666-CC99599EF661}"/>
                  </a:ext>
                </a:extLst>
              </p14:cNvPr>
              <p14:cNvContentPartPr/>
              <p14:nvPr/>
            </p14:nvContentPartPr>
            <p14:xfrm>
              <a:off x="3485194" y="5037528"/>
              <a:ext cx="117360" cy="360"/>
            </p14:xfrm>
          </p:contentPart>
        </mc:Choice>
        <mc:Fallback xmlns="">
          <p:pic>
            <p:nvPicPr>
              <p:cNvPr id="76" name="Рукописный ввод 75">
                <a:extLst>
                  <a:ext uri="{FF2B5EF4-FFF2-40B4-BE49-F238E27FC236}">
                    <a16:creationId xmlns:a16="http://schemas.microsoft.com/office/drawing/2014/main" id="{EB1037D3-C308-48EB-5666-CC99599EF66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476194" y="5028528"/>
                <a:ext cx="135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7" name="Рукописный ввод 76">
                <a:extLst>
                  <a:ext uri="{FF2B5EF4-FFF2-40B4-BE49-F238E27FC236}">
                    <a16:creationId xmlns:a16="http://schemas.microsoft.com/office/drawing/2014/main" id="{61FD985E-4F17-EDC7-7545-DAF2F792D651}"/>
                  </a:ext>
                </a:extLst>
              </p14:cNvPr>
              <p14:cNvContentPartPr/>
              <p14:nvPr/>
            </p14:nvContentPartPr>
            <p14:xfrm>
              <a:off x="3502114" y="4761768"/>
              <a:ext cx="82080" cy="360"/>
            </p14:xfrm>
          </p:contentPart>
        </mc:Choice>
        <mc:Fallback xmlns="">
          <p:pic>
            <p:nvPicPr>
              <p:cNvPr id="77" name="Рукописный ввод 76">
                <a:extLst>
                  <a:ext uri="{FF2B5EF4-FFF2-40B4-BE49-F238E27FC236}">
                    <a16:creationId xmlns:a16="http://schemas.microsoft.com/office/drawing/2014/main" id="{61FD985E-4F17-EDC7-7545-DAF2F792D65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93114" y="4752768"/>
                <a:ext cx="99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8" name="Рукописный ввод 77">
                <a:extLst>
                  <a:ext uri="{FF2B5EF4-FFF2-40B4-BE49-F238E27FC236}">
                    <a16:creationId xmlns:a16="http://schemas.microsoft.com/office/drawing/2014/main" id="{E79FC6DE-3B07-EE94-5501-742F511D07A1}"/>
                  </a:ext>
                </a:extLst>
              </p14:cNvPr>
              <p14:cNvContentPartPr/>
              <p14:nvPr/>
            </p14:nvContentPartPr>
            <p14:xfrm>
              <a:off x="3502114" y="4485648"/>
              <a:ext cx="82080" cy="360"/>
            </p14:xfrm>
          </p:contentPart>
        </mc:Choice>
        <mc:Fallback xmlns="">
          <p:pic>
            <p:nvPicPr>
              <p:cNvPr id="78" name="Рукописный ввод 77">
                <a:extLst>
                  <a:ext uri="{FF2B5EF4-FFF2-40B4-BE49-F238E27FC236}">
                    <a16:creationId xmlns:a16="http://schemas.microsoft.com/office/drawing/2014/main" id="{E79FC6DE-3B07-EE94-5501-742F511D07A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93114" y="4477008"/>
                <a:ext cx="99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9" name="Рукописный ввод 78">
                <a:extLst>
                  <a:ext uri="{FF2B5EF4-FFF2-40B4-BE49-F238E27FC236}">
                    <a16:creationId xmlns:a16="http://schemas.microsoft.com/office/drawing/2014/main" id="{6B1AED6D-D978-F870-AEAD-B74188376C06}"/>
                  </a:ext>
                </a:extLst>
              </p14:cNvPr>
              <p14:cNvContentPartPr/>
              <p14:nvPr/>
            </p14:nvContentPartPr>
            <p14:xfrm>
              <a:off x="3485194" y="4278288"/>
              <a:ext cx="81720" cy="360"/>
            </p14:xfrm>
          </p:contentPart>
        </mc:Choice>
        <mc:Fallback xmlns="">
          <p:pic>
            <p:nvPicPr>
              <p:cNvPr id="79" name="Рукописный ввод 78">
                <a:extLst>
                  <a:ext uri="{FF2B5EF4-FFF2-40B4-BE49-F238E27FC236}">
                    <a16:creationId xmlns:a16="http://schemas.microsoft.com/office/drawing/2014/main" id="{6B1AED6D-D978-F870-AEAD-B74188376C0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76194" y="4269648"/>
                <a:ext cx="99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0" name="Рукописный ввод 79">
                <a:extLst>
                  <a:ext uri="{FF2B5EF4-FFF2-40B4-BE49-F238E27FC236}">
                    <a16:creationId xmlns:a16="http://schemas.microsoft.com/office/drawing/2014/main" id="{05743776-17D4-050A-3BBC-78194CEDE70C}"/>
                  </a:ext>
                </a:extLst>
              </p14:cNvPr>
              <p14:cNvContentPartPr/>
              <p14:nvPr/>
            </p14:nvContentPartPr>
            <p14:xfrm>
              <a:off x="3450634" y="3950328"/>
              <a:ext cx="99720" cy="360"/>
            </p14:xfrm>
          </p:contentPart>
        </mc:Choice>
        <mc:Fallback xmlns="">
          <p:pic>
            <p:nvPicPr>
              <p:cNvPr id="80" name="Рукописный ввод 79">
                <a:extLst>
                  <a:ext uri="{FF2B5EF4-FFF2-40B4-BE49-F238E27FC236}">
                    <a16:creationId xmlns:a16="http://schemas.microsoft.com/office/drawing/2014/main" id="{05743776-17D4-050A-3BBC-78194CEDE70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41634" y="3941688"/>
                <a:ext cx="117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1" name="Рукописный ввод 80">
                <a:extLst>
                  <a:ext uri="{FF2B5EF4-FFF2-40B4-BE49-F238E27FC236}">
                    <a16:creationId xmlns:a16="http://schemas.microsoft.com/office/drawing/2014/main" id="{0CD804F8-255D-6BA7-3AA3-09B0BA0F541F}"/>
                  </a:ext>
                </a:extLst>
              </p14:cNvPr>
              <p14:cNvContentPartPr/>
              <p14:nvPr/>
            </p14:nvContentPartPr>
            <p14:xfrm>
              <a:off x="3416074" y="3674568"/>
              <a:ext cx="153360" cy="360"/>
            </p14:xfrm>
          </p:contentPart>
        </mc:Choice>
        <mc:Fallback xmlns="">
          <p:pic>
            <p:nvPicPr>
              <p:cNvPr id="81" name="Рукописный ввод 80">
                <a:extLst>
                  <a:ext uri="{FF2B5EF4-FFF2-40B4-BE49-F238E27FC236}">
                    <a16:creationId xmlns:a16="http://schemas.microsoft.com/office/drawing/2014/main" id="{0CD804F8-255D-6BA7-3AA3-09B0BA0F541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407074" y="3665928"/>
                <a:ext cx="171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2" name="Рукописный ввод 81">
                <a:extLst>
                  <a:ext uri="{FF2B5EF4-FFF2-40B4-BE49-F238E27FC236}">
                    <a16:creationId xmlns:a16="http://schemas.microsoft.com/office/drawing/2014/main" id="{5100E4F3-8FF7-48D6-EB38-638AB01F9359}"/>
                  </a:ext>
                </a:extLst>
              </p14:cNvPr>
              <p14:cNvContentPartPr/>
              <p14:nvPr/>
            </p14:nvContentPartPr>
            <p14:xfrm>
              <a:off x="3416074" y="3416088"/>
              <a:ext cx="82800" cy="17640"/>
            </p14:xfrm>
          </p:contentPart>
        </mc:Choice>
        <mc:Fallback xmlns="">
          <p:pic>
            <p:nvPicPr>
              <p:cNvPr id="82" name="Рукописный ввод 81">
                <a:extLst>
                  <a:ext uri="{FF2B5EF4-FFF2-40B4-BE49-F238E27FC236}">
                    <a16:creationId xmlns:a16="http://schemas.microsoft.com/office/drawing/2014/main" id="{5100E4F3-8FF7-48D6-EB38-638AB01F935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407074" y="3407088"/>
                <a:ext cx="1004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3" name="Рукописный ввод 82">
                <a:extLst>
                  <a:ext uri="{FF2B5EF4-FFF2-40B4-BE49-F238E27FC236}">
                    <a16:creationId xmlns:a16="http://schemas.microsoft.com/office/drawing/2014/main" id="{4BE1A193-74D8-46FC-FDE6-46093D44632F}"/>
                  </a:ext>
                </a:extLst>
              </p14:cNvPr>
              <p14:cNvContentPartPr/>
              <p14:nvPr/>
            </p14:nvContentPartPr>
            <p14:xfrm>
              <a:off x="4054354" y="6556008"/>
              <a:ext cx="360" cy="360"/>
            </p14:xfrm>
          </p:contentPart>
        </mc:Choice>
        <mc:Fallback xmlns="">
          <p:pic>
            <p:nvPicPr>
              <p:cNvPr id="83" name="Рукописный ввод 82">
                <a:extLst>
                  <a:ext uri="{FF2B5EF4-FFF2-40B4-BE49-F238E27FC236}">
                    <a16:creationId xmlns:a16="http://schemas.microsoft.com/office/drawing/2014/main" id="{4BE1A193-74D8-46FC-FDE6-46093D44632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991354" y="649336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4" name="Рукописный ввод 83">
                <a:extLst>
                  <a:ext uri="{FF2B5EF4-FFF2-40B4-BE49-F238E27FC236}">
                    <a16:creationId xmlns:a16="http://schemas.microsoft.com/office/drawing/2014/main" id="{837FBEDE-4317-8CDF-E87C-4C2E4F8A66CE}"/>
                  </a:ext>
                </a:extLst>
              </p14:cNvPr>
              <p14:cNvContentPartPr/>
              <p14:nvPr/>
            </p14:nvContentPartPr>
            <p14:xfrm>
              <a:off x="4140394" y="5037528"/>
              <a:ext cx="360" cy="360"/>
            </p14:xfrm>
          </p:contentPart>
        </mc:Choice>
        <mc:Fallback xmlns="">
          <p:pic>
            <p:nvPicPr>
              <p:cNvPr id="84" name="Рукописный ввод 83">
                <a:extLst>
                  <a:ext uri="{FF2B5EF4-FFF2-40B4-BE49-F238E27FC236}">
                    <a16:creationId xmlns:a16="http://schemas.microsoft.com/office/drawing/2014/main" id="{837FBEDE-4317-8CDF-E87C-4C2E4F8A66C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077394" y="49745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5" name="Рукописный ввод 84">
                <a:extLst>
                  <a:ext uri="{FF2B5EF4-FFF2-40B4-BE49-F238E27FC236}">
                    <a16:creationId xmlns:a16="http://schemas.microsoft.com/office/drawing/2014/main" id="{92AD106A-BF74-94A3-98BA-9052DA5EFE45}"/>
                  </a:ext>
                </a:extLst>
              </p14:cNvPr>
              <p14:cNvContentPartPr/>
              <p14:nvPr/>
            </p14:nvContentPartPr>
            <p14:xfrm>
              <a:off x="4468354" y="4468008"/>
              <a:ext cx="360" cy="360"/>
            </p14:xfrm>
          </p:contentPart>
        </mc:Choice>
        <mc:Fallback xmlns="">
          <p:pic>
            <p:nvPicPr>
              <p:cNvPr id="85" name="Рукописный ввод 84">
                <a:extLst>
                  <a:ext uri="{FF2B5EF4-FFF2-40B4-BE49-F238E27FC236}">
                    <a16:creationId xmlns:a16="http://schemas.microsoft.com/office/drawing/2014/main" id="{92AD106A-BF74-94A3-98BA-9052DA5EFE4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405714" y="440536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6" name="Рукописный ввод 85">
                <a:extLst>
                  <a:ext uri="{FF2B5EF4-FFF2-40B4-BE49-F238E27FC236}">
                    <a16:creationId xmlns:a16="http://schemas.microsoft.com/office/drawing/2014/main" id="{953AAC30-140A-81F0-FEA0-E42C08F83298}"/>
                  </a:ext>
                </a:extLst>
              </p14:cNvPr>
              <p14:cNvContentPartPr/>
              <p14:nvPr/>
            </p14:nvContentPartPr>
            <p14:xfrm>
              <a:off x="4727194" y="3898848"/>
              <a:ext cx="360" cy="360"/>
            </p14:xfrm>
          </p:contentPart>
        </mc:Choice>
        <mc:Fallback xmlns="">
          <p:pic>
            <p:nvPicPr>
              <p:cNvPr id="86" name="Рукописный ввод 85">
                <a:extLst>
                  <a:ext uri="{FF2B5EF4-FFF2-40B4-BE49-F238E27FC236}">
                    <a16:creationId xmlns:a16="http://schemas.microsoft.com/office/drawing/2014/main" id="{953AAC30-140A-81F0-FEA0-E42C08F8329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664554" y="383620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7" name="Рукописный ввод 86">
                <a:extLst>
                  <a:ext uri="{FF2B5EF4-FFF2-40B4-BE49-F238E27FC236}">
                    <a16:creationId xmlns:a16="http://schemas.microsoft.com/office/drawing/2014/main" id="{2B7C0124-60C9-CD88-E144-AD3A12A06A03}"/>
                  </a:ext>
                </a:extLst>
              </p14:cNvPr>
              <p14:cNvContentPartPr/>
              <p14:nvPr/>
            </p14:nvContentPartPr>
            <p14:xfrm>
              <a:off x="4968394" y="3139968"/>
              <a:ext cx="360" cy="360"/>
            </p14:xfrm>
          </p:contentPart>
        </mc:Choice>
        <mc:Fallback xmlns="">
          <p:pic>
            <p:nvPicPr>
              <p:cNvPr id="87" name="Рукописный ввод 86">
                <a:extLst>
                  <a:ext uri="{FF2B5EF4-FFF2-40B4-BE49-F238E27FC236}">
                    <a16:creationId xmlns:a16="http://schemas.microsoft.com/office/drawing/2014/main" id="{2B7C0124-60C9-CD88-E144-AD3A12A06A0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905754" y="307696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8" name="Рукописный ввод 87">
                <a:extLst>
                  <a:ext uri="{FF2B5EF4-FFF2-40B4-BE49-F238E27FC236}">
                    <a16:creationId xmlns:a16="http://schemas.microsoft.com/office/drawing/2014/main" id="{8320A23D-5032-DCC8-C830-9D1B9EF25C25}"/>
                  </a:ext>
                </a:extLst>
              </p14:cNvPr>
              <p14:cNvContentPartPr/>
              <p14:nvPr/>
            </p14:nvContentPartPr>
            <p14:xfrm>
              <a:off x="5348194" y="3450288"/>
              <a:ext cx="360" cy="360"/>
            </p14:xfrm>
          </p:contentPart>
        </mc:Choice>
        <mc:Fallback xmlns="">
          <p:pic>
            <p:nvPicPr>
              <p:cNvPr id="88" name="Рукописный ввод 87">
                <a:extLst>
                  <a:ext uri="{FF2B5EF4-FFF2-40B4-BE49-F238E27FC236}">
                    <a16:creationId xmlns:a16="http://schemas.microsoft.com/office/drawing/2014/main" id="{8320A23D-5032-DCC8-C830-9D1B9EF25C2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285194" y="33872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0" name="Рукописный ввод 89">
                <a:extLst>
                  <a:ext uri="{FF2B5EF4-FFF2-40B4-BE49-F238E27FC236}">
                    <a16:creationId xmlns:a16="http://schemas.microsoft.com/office/drawing/2014/main" id="{46A938A5-314A-FEA0-EE4B-B0A423E0CE81}"/>
                  </a:ext>
                </a:extLst>
              </p14:cNvPr>
              <p14:cNvContentPartPr/>
              <p14:nvPr/>
            </p14:nvContentPartPr>
            <p14:xfrm>
              <a:off x="3985234" y="6162528"/>
              <a:ext cx="53280" cy="185400"/>
            </p14:xfrm>
          </p:contentPart>
        </mc:Choice>
        <mc:Fallback xmlns="">
          <p:pic>
            <p:nvPicPr>
              <p:cNvPr id="90" name="Рукописный ввод 89">
                <a:extLst>
                  <a:ext uri="{FF2B5EF4-FFF2-40B4-BE49-F238E27FC236}">
                    <a16:creationId xmlns:a16="http://schemas.microsoft.com/office/drawing/2014/main" id="{46A938A5-314A-FEA0-EE4B-B0A423E0CE8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76234" y="6153528"/>
                <a:ext cx="709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1" name="Рукописный ввод 90">
                <a:extLst>
                  <a:ext uri="{FF2B5EF4-FFF2-40B4-BE49-F238E27FC236}">
                    <a16:creationId xmlns:a16="http://schemas.microsoft.com/office/drawing/2014/main" id="{5B215E0E-E945-47DF-5BED-8861AFAA1623}"/>
                  </a:ext>
                </a:extLst>
              </p14:cNvPr>
              <p14:cNvContentPartPr/>
              <p14:nvPr/>
            </p14:nvContentPartPr>
            <p14:xfrm>
              <a:off x="3208714" y="5520288"/>
              <a:ext cx="53280" cy="171360"/>
            </p14:xfrm>
          </p:contentPart>
        </mc:Choice>
        <mc:Fallback xmlns="">
          <p:pic>
            <p:nvPicPr>
              <p:cNvPr id="91" name="Рукописный ввод 90">
                <a:extLst>
                  <a:ext uri="{FF2B5EF4-FFF2-40B4-BE49-F238E27FC236}">
                    <a16:creationId xmlns:a16="http://schemas.microsoft.com/office/drawing/2014/main" id="{5B215E0E-E945-47DF-5BED-8861AFAA162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199714" y="5511648"/>
                <a:ext cx="70920" cy="189000"/>
              </a:xfrm>
              <a:prstGeom prst="rect">
                <a:avLst/>
              </a:prstGeom>
            </p:spPr>
          </p:pic>
        </mc:Fallback>
      </mc:AlternateContent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3711573C-66A7-8F75-317C-7F918BF8D1EF}"/>
              </a:ext>
            </a:extLst>
          </p:cNvPr>
          <p:cNvCxnSpPr/>
          <p:nvPr/>
        </p:nvCxnSpPr>
        <p:spPr>
          <a:xfrm flipV="1">
            <a:off x="3757354" y="2725968"/>
            <a:ext cx="1366737" cy="412164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единительная линия 94">
            <a:extLst>
              <a:ext uri="{FF2B5EF4-FFF2-40B4-BE49-F238E27FC236}">
                <a16:creationId xmlns:a16="http://schemas.microsoft.com/office/drawing/2014/main" id="{A5C29799-31CE-8737-7DA8-D4621B99DB64}"/>
              </a:ext>
            </a:extLst>
          </p:cNvPr>
          <p:cNvCxnSpPr/>
          <p:nvPr/>
        </p:nvCxnSpPr>
        <p:spPr>
          <a:xfrm>
            <a:off x="3174514" y="4468008"/>
            <a:ext cx="4019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единительная линия 95">
            <a:extLst>
              <a:ext uri="{FF2B5EF4-FFF2-40B4-BE49-F238E27FC236}">
                <a16:creationId xmlns:a16="http://schemas.microsoft.com/office/drawing/2014/main" id="{0E3F6CC6-046C-426F-9D14-339CF2C64C10}"/>
              </a:ext>
            </a:extLst>
          </p:cNvPr>
          <p:cNvCxnSpPr>
            <a:cxnSpLocks/>
          </p:cNvCxnSpPr>
          <p:nvPr/>
        </p:nvCxnSpPr>
        <p:spPr>
          <a:xfrm flipV="1">
            <a:off x="3531731" y="2872128"/>
            <a:ext cx="2047085" cy="37792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2031A2-199A-26F1-3C11-76B7B60B6A8A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528400" y="2275836"/>
            <a:ext cx="5639587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10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C9E9C-69D2-FF96-5EC3-92C5B5048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Рассмотрим математически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5EAB54D-5EDD-00BE-45EE-8D41A57080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386" y="1825625"/>
                <a:ext cx="9348952" cy="4351338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Вспомним уравнение прямой: 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независимая переменная</a:t>
                </a:r>
                <a:r>
                  <a:rPr lang="en-US" dirty="0"/>
                  <a:t> (</a:t>
                </a:r>
                <a:r>
                  <a:rPr lang="ru-RU" dirty="0"/>
                  <a:t>НП)</a:t>
                </a:r>
              </a:p>
              <a:p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– </a:t>
                </a:r>
                <a:r>
                  <a:rPr lang="ru-RU" dirty="0"/>
                  <a:t>зависимая переменная (ЗП)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– 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угловой коэффициент </a:t>
                </a:r>
                <a:r>
                  <a:rPr lang="en-US" dirty="0"/>
                  <a:t>(slope)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5EAB54D-5EDD-00BE-45EE-8D41A57080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386" y="1825625"/>
                <a:ext cx="9348952" cy="4351338"/>
              </a:xfrm>
              <a:blipFill>
                <a:blip r:embed="rId2"/>
                <a:stretch>
                  <a:fillRect l="-117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Linear Regression Model Application in Business">
            <a:extLst>
              <a:ext uri="{FF2B5EF4-FFF2-40B4-BE49-F238E27FC236}">
                <a16:creationId xmlns:a16="http://schemas.microsoft.com/office/drawing/2014/main" id="{42C39ADA-8F31-F77D-7A2D-9292C19D1E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5" r="18280"/>
          <a:stretch/>
        </p:blipFill>
        <p:spPr bwMode="auto">
          <a:xfrm>
            <a:off x="7257393" y="2593209"/>
            <a:ext cx="4934607" cy="426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517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3A0E5-1B35-E226-2A73-01794FD4E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Допущения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54F8B3-3BAF-E503-3F4A-351AC8B6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Наблюдения в выборке независимы</a:t>
            </a:r>
          </a:p>
          <a:p>
            <a:r>
              <a:rPr lang="ru-RU" dirty="0"/>
              <a:t>Связь между предикторами и зависимой переменной линейная</a:t>
            </a:r>
          </a:p>
          <a:p>
            <a:r>
              <a:rPr lang="ru-RU" dirty="0"/>
              <a:t>Ошибки модели распределены случайно</a:t>
            </a:r>
          </a:p>
          <a:p>
            <a:r>
              <a:rPr lang="ru-RU" dirty="0"/>
              <a:t>Ошибки модели не коррелируют</a:t>
            </a:r>
          </a:p>
          <a:p>
            <a:r>
              <a:rPr lang="ru-RU" dirty="0"/>
              <a:t>Ошибки модели распределены нормально</a:t>
            </a:r>
          </a:p>
          <a:p>
            <a:r>
              <a:rPr lang="ru-RU" dirty="0"/>
              <a:t>Дисперсия ошибок гомогенна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7520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59BDD-6A8C-B801-C8B1-FE34875B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BCA64D-65BF-A5E8-5F97-EAE3B7843E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8943"/>
                <a:ext cx="10515600" cy="4838020"/>
              </a:xfrm>
            </p:spPr>
            <p:txBody>
              <a:bodyPr/>
              <a:lstStyle/>
              <a:p>
                <a:r>
                  <a:rPr lang="ru-RU" b="1" dirty="0"/>
                  <a:t>Коэффициент детерминации (</a:t>
                </a:r>
                <a:r>
                  <a:rPr lang="en-US" b="1" dirty="0"/>
                  <a:t>R</a:t>
                </a:r>
                <a:r>
                  <a:rPr lang="en-US" b="1" baseline="30000" dirty="0"/>
                  <a:t>2</a:t>
                </a:r>
                <a:r>
                  <a:rPr lang="en-US" b="1" dirty="0"/>
                  <a:t>)</a:t>
                </a:r>
                <a:r>
                  <a:rPr lang="en-US" dirty="0"/>
                  <a:t> – </a:t>
                </a:r>
                <a:r>
                  <a:rPr lang="ru-RU" dirty="0"/>
                  <a:t>доля дисперсии данных, объясненная моделью</a:t>
                </a:r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R</a:t>
                </a:r>
                <a:r>
                  <a:rPr lang="en-US" baseline="30000" dirty="0"/>
                  <a:t>2</a:t>
                </a:r>
                <a:r>
                  <a:rPr lang="ru-RU" baseline="30000" dirty="0"/>
                  <a:t> </a:t>
                </a:r>
                <a:r>
                  <a:rPr lang="ru-RU" dirty="0"/>
                  <a:t>лежит в диапазоне: </a:t>
                </a:r>
                <a:r>
                  <a:rPr lang="en-US" dirty="0"/>
                  <a:t>[0; 1]</a:t>
                </a:r>
              </a:p>
              <a:p>
                <a:r>
                  <a:rPr lang="en-US" dirty="0"/>
                  <a:t>Adjusted R2 – </a:t>
                </a:r>
                <a:r>
                  <a:rPr lang="ru-RU" dirty="0"/>
                  <a:t>добавляет поправку на количество предикторов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BCA64D-65BF-A5E8-5F97-EAE3B7843E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8943"/>
                <a:ext cx="10515600" cy="4838020"/>
              </a:xfrm>
              <a:blipFill>
                <a:blip r:embed="rId3"/>
                <a:stretch>
                  <a:fillRect l="-1043" t="-22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9AEFA4-0A75-4B02-E562-53FE13577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906" y="4041392"/>
            <a:ext cx="9192187" cy="281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73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EB3AC3-8BB8-FAE9-34E2-90A966A5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Статистическая значимость модели и предикторов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5C645C-5364-09AA-397E-4C485EBEC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Если модель в целом значима, то это значит, что среди ее коэффициентов (</a:t>
            </a:r>
            <a:r>
              <a:rPr lang="en-US" dirty="0"/>
              <a:t>b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есть такие, которые значимо отличаются от 0 (</a:t>
            </a:r>
            <a:r>
              <a:rPr lang="en-US" dirty="0"/>
              <a:t>i.e., </a:t>
            </a:r>
            <a:r>
              <a:rPr lang="ru-RU" dirty="0"/>
              <a:t>есть такие предикторы, которые значимо связаны с зависимой переменной)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8A9028-BDA4-61CA-0B0F-193A5E982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769" y="3222082"/>
            <a:ext cx="6946232" cy="363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06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20A6F-820D-204D-6923-D7FC038E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B26F2-775F-EC10-54B1-F7980C5CF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Интерпретации коэффициентов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622B7E-FCFB-D20B-FFC5-D10B12AD3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p-value – </a:t>
            </a:r>
            <a:r>
              <a:rPr lang="ru-RU" dirty="0"/>
              <a:t>показывает значимость связи предиктора с зависимой переменной, но НЕ величину связи (!)</a:t>
            </a:r>
          </a:p>
          <a:p>
            <a:r>
              <a:rPr lang="ru-RU" dirty="0"/>
              <a:t>Сила связи определяется с помощью стандартизованных коэффициентов модели</a:t>
            </a:r>
          </a:p>
          <a:p>
            <a:r>
              <a:rPr lang="ru-RU" dirty="0"/>
              <a:t>Идейно: стандартизованный коэффициент показывает, какой была бы корреляция предиктора с зависимой переменной, если бы остальные предикторы в модели были константными.</a:t>
            </a:r>
          </a:p>
        </p:txBody>
      </p:sp>
    </p:spTree>
    <p:extLst>
      <p:ext uri="{BB962C8B-B14F-4D97-AF65-F5344CB8AC3E}">
        <p14:creationId xmlns:p14="http://schemas.microsoft.com/office/powerpoint/2010/main" val="3619385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AF65-9797-120E-18C5-5999D47A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C7459-B0C1-C577-5F3C-530F639ED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4119"/>
            <a:ext cx="9144000" cy="1289761"/>
          </a:xfrm>
        </p:spPr>
        <p:txBody>
          <a:bodyPr>
            <a:normAutofit fontScale="90000"/>
          </a:bodyPr>
          <a:lstStyle/>
          <a:p>
            <a:r>
              <a:rPr lang="ru-RU" dirty="0"/>
              <a:t>Множественная линейная регрессия</a:t>
            </a:r>
          </a:p>
        </p:txBody>
      </p:sp>
    </p:spTree>
    <p:extLst>
      <p:ext uri="{BB962C8B-B14F-4D97-AF65-F5344CB8AC3E}">
        <p14:creationId xmlns:p14="http://schemas.microsoft.com/office/powerpoint/2010/main" val="913416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8DBB5B-6FF0-95AA-5CE0-B9F319C8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Множественная линейная регрессия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3BDF78-AE15-DBED-9179-1ECA0824D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1779" cy="4351338"/>
          </a:xfrm>
        </p:spPr>
        <p:txBody>
          <a:bodyPr/>
          <a:lstStyle/>
          <a:p>
            <a:r>
              <a:rPr lang="ru-RU" dirty="0"/>
              <a:t>Больше одного предиктора</a:t>
            </a:r>
          </a:p>
          <a:p>
            <a:r>
              <a:rPr lang="ru-RU" dirty="0"/>
              <a:t>Все выводы и выкладки остаются неизменными</a:t>
            </a:r>
          </a:p>
          <a:p>
            <a:r>
              <a:rPr lang="ru-RU" dirty="0"/>
              <a:t>Добавляется важное допущение: предикторы модели не коррелируют друг с другом!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D21D99-E9AE-9DDB-A9A4-F5EB0AC16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781" y="1825625"/>
            <a:ext cx="5687219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46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E196-9755-DEF8-655D-F6122A9E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04DCF-F1D9-9476-1E65-AB2A6156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допущений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B15DF4-CA4D-BAA2-B138-F110DE66F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Необходимо проверить следующие допущения:</a:t>
            </a:r>
          </a:p>
          <a:p>
            <a:pPr marL="514350" indent="-514350">
              <a:buAutoNum type="arabicPeriod"/>
            </a:pPr>
            <a:r>
              <a:rPr lang="ru-RU" dirty="0"/>
              <a:t>Отсутствие </a:t>
            </a:r>
            <a:r>
              <a:rPr lang="ru-RU" dirty="0" err="1"/>
              <a:t>мультиколлинеарности</a:t>
            </a:r>
            <a:endParaRPr lang="ru-RU" dirty="0"/>
          </a:p>
          <a:p>
            <a:pPr marL="514350" indent="-514350">
              <a:buAutoNum type="arabicPeriod"/>
            </a:pPr>
            <a:r>
              <a:rPr lang="ru-RU" dirty="0"/>
              <a:t>Нормальность распределения остатков</a:t>
            </a:r>
          </a:p>
          <a:p>
            <a:pPr marL="514350" indent="-514350">
              <a:buAutoNum type="arabicPeriod"/>
            </a:pPr>
            <a:r>
              <a:rPr lang="ru-RU" dirty="0"/>
              <a:t>Гомоскедастичность</a:t>
            </a:r>
          </a:p>
          <a:p>
            <a:pPr marL="514350" indent="-514350">
              <a:buAutoNum type="arabicPeriod"/>
            </a:pPr>
            <a:r>
              <a:rPr lang="ru-RU" dirty="0"/>
              <a:t>Отсутствие влиятельных наблюдений</a:t>
            </a:r>
          </a:p>
        </p:txBody>
      </p:sp>
    </p:spTree>
    <p:extLst>
      <p:ext uri="{BB962C8B-B14F-4D97-AF65-F5344CB8AC3E}">
        <p14:creationId xmlns:p14="http://schemas.microsoft.com/office/powerpoint/2010/main" val="2106964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0C60A-F826-5868-E646-2401EA52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34AE9-9B90-8D68-5AFE-F243E014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допущений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85F403-0C2F-02A0-5AA5-95E5CD2EA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1. </a:t>
            </a:r>
            <a:r>
              <a:rPr lang="ru-RU" b="1" dirty="0" err="1"/>
              <a:t>Мультиколлинеарность</a:t>
            </a:r>
            <a:r>
              <a:rPr lang="ru-RU" dirty="0"/>
              <a:t> – высокая корреляция между предикторами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ru-RU" u="sng" dirty="0"/>
              <a:t>Как заметить?</a:t>
            </a:r>
          </a:p>
          <a:p>
            <a:r>
              <a:rPr lang="en-US" dirty="0"/>
              <a:t>VIF (variance inflation factor)</a:t>
            </a:r>
            <a:r>
              <a:rPr lang="ru-RU" dirty="0"/>
              <a:t> </a:t>
            </a:r>
            <a:r>
              <a:rPr lang="en-US" dirty="0"/>
              <a:t>&gt;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u="sng" dirty="0"/>
              <a:t>Как бороться?</a:t>
            </a:r>
          </a:p>
          <a:p>
            <a:r>
              <a:rPr lang="ru-RU" dirty="0"/>
              <a:t>Удаляем из модели коррелирующие предикторы</a:t>
            </a:r>
          </a:p>
          <a:p>
            <a:r>
              <a:rPr lang="ru-RU" dirty="0"/>
              <a:t>Факторный анализ (</a:t>
            </a:r>
            <a:r>
              <a:rPr lang="en-US" dirty="0"/>
              <a:t>stay tuned</a:t>
            </a:r>
            <a:r>
              <a:rPr lang="ru-RU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7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91A67-7495-D9AE-AC37-CE45D825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A46EB-60C4-7532-1844-4F23E2F1E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допущений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3DA3E1-08A6-504A-9C50-7EF4A1BB8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2. Нормальность распределения остатков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7A126E7-C8C6-FA28-BF48-FAB44788C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53" y="2438643"/>
            <a:ext cx="10879747" cy="44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53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3761B-CD3F-72D0-C9AC-150F60E83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4AFDE-E7B3-8B35-23F6-68C848E9F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допущений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53ECF4-1DB4-6755-6B36-2AA54E6AD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2. Нормальность распределения остатков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AA8E3FF-2139-2B4C-6994-52F360513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67" y="2516752"/>
            <a:ext cx="5763833" cy="302654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EC28DF0-E7AF-A2EB-5631-BD2B3AC9E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496" y="2516752"/>
            <a:ext cx="5764504" cy="302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19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52A84-98FD-14E0-5576-B23E75DB2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08084-6E13-6425-0D76-CAE06490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допущений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70D7B2-6C03-FEBF-D81F-08E4563F9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2. Ненормальность распределения остатков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ru-RU" u="sng" dirty="0"/>
              <a:t>Как заметить?</a:t>
            </a:r>
          </a:p>
          <a:p>
            <a:r>
              <a:rPr lang="en-US" dirty="0"/>
              <a:t>Q-Q plot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u="sng" dirty="0"/>
              <a:t>Как бороться?</a:t>
            </a:r>
          </a:p>
          <a:p>
            <a:r>
              <a:rPr lang="ru-RU" dirty="0"/>
              <a:t>Включаем в модель неучтенные переменные</a:t>
            </a:r>
          </a:p>
          <a:p>
            <a:r>
              <a:rPr lang="ru-RU" dirty="0"/>
              <a:t>Трансформируем данные</a:t>
            </a:r>
          </a:p>
          <a:p>
            <a:r>
              <a:rPr lang="ru-RU" dirty="0"/>
              <a:t>Подбираем модель, которая предполагает другое распределение данных (</a:t>
            </a:r>
            <a:r>
              <a:rPr lang="en-US" dirty="0"/>
              <a:t>Generalized Linear Models)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4764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2943-0E05-4212-F246-CEFD4D0D2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394C2C-9716-4829-A621-C2F86C34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допущений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F777D7-7DFD-0F33-C785-0234086AA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i="1" dirty="0"/>
              <a:t>Трансформация данных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F9B009-F8CF-899C-5048-B0F85A761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04415"/>
            <a:ext cx="10288436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249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5BF7-AC5C-9AE0-F572-29BBCB65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A585C1-AC90-5B8F-C3EA-570213BA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допущений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B14E7A-56EF-7A0B-4958-75DD66D1F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i="1" dirty="0"/>
              <a:t>Трансформация данных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19FB9C-DCDD-984B-1244-3C7466569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2444"/>
            <a:ext cx="10973486" cy="322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05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8A940-1CC9-5EB6-9606-4B59557A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0ADB2-815D-8EDB-E185-2A114F2B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допущений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4A68E1-B45B-95EC-3477-CD5481620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287"/>
            <a:ext cx="10515600" cy="5129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i="1" dirty="0"/>
              <a:t>Трансформация данных: </a:t>
            </a:r>
            <a:r>
              <a:rPr lang="en-US" i="1" dirty="0"/>
              <a:t>Box-Cox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39129A-336B-0BD8-2D2C-53C649A10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3006"/>
            <a:ext cx="10515600" cy="478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313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562C-91FD-9252-E385-D4F0A5EBD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E233A-6473-A380-9088-BE35C8FF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допущений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14CE2-DD0F-676D-44B1-783B0D43A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3. Гомоскедастичность</a:t>
            </a:r>
            <a:r>
              <a:rPr lang="en-US" dirty="0"/>
              <a:t> – </a:t>
            </a:r>
            <a:r>
              <a:rPr lang="ru-RU" dirty="0"/>
              <a:t>равномерность дисперсий остатков при разных значениях зависимой переменной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ru-RU" u="sng" dirty="0"/>
              <a:t>Как заметить?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1485B6-0B40-C2A6-36A8-38207FB63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98" y="3958871"/>
            <a:ext cx="6601746" cy="25340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D21987-E062-F6A8-5778-1F724F110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714" y="2455280"/>
            <a:ext cx="3096057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89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6C82-CEF3-29DA-FEB5-5D10A35FB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C4428E-424D-ED07-7D53-4809E545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допущений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1982AD-540A-1C36-CF12-ADBAC28DD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3. Гомоскедастичность</a:t>
            </a:r>
            <a:r>
              <a:rPr lang="en-US" dirty="0"/>
              <a:t> – </a:t>
            </a:r>
            <a:r>
              <a:rPr lang="ru-RU" dirty="0"/>
              <a:t>равномерность дисперсий остатков при разных значениях зависимой переменной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ru-RU" u="sng" dirty="0"/>
              <a:t>Как заметить?</a:t>
            </a:r>
          </a:p>
          <a:p>
            <a:r>
              <a:rPr lang="ru-RU" dirty="0"/>
              <a:t>Графики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u="sng" dirty="0"/>
              <a:t>Как бороться?</a:t>
            </a:r>
          </a:p>
          <a:p>
            <a:r>
              <a:rPr lang="ru-RU" dirty="0"/>
              <a:t>Включаем в модель неучтенные переменные</a:t>
            </a:r>
          </a:p>
          <a:p>
            <a:r>
              <a:rPr lang="ru-RU" dirty="0"/>
              <a:t>Трансформируем данные</a:t>
            </a:r>
          </a:p>
          <a:p>
            <a:r>
              <a:rPr lang="ru-RU" dirty="0"/>
              <a:t>Подбираем модель, которая предполагает другое распределение данных (</a:t>
            </a:r>
            <a:r>
              <a:rPr lang="en-US" dirty="0"/>
              <a:t>Generalized Linear Models)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4774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54368-AFD5-4F83-48F0-D28F86A4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B1258-3867-1F68-D711-9923FC28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допущений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607026-E2CA-3994-907B-B8789CC4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4. Отсутствие влиятельных наблюдений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ru-RU" u="sng" dirty="0"/>
              <a:t>Как заметить?</a:t>
            </a:r>
          </a:p>
          <a:p>
            <a:r>
              <a:rPr lang="ru-RU" dirty="0"/>
              <a:t>Описательная статистика (!)</a:t>
            </a:r>
          </a:p>
          <a:p>
            <a:r>
              <a:rPr lang="ru-RU" dirty="0"/>
              <a:t>Расстояния Кука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u="sng" dirty="0"/>
              <a:t>Как бороться?</a:t>
            </a:r>
          </a:p>
          <a:p>
            <a:r>
              <a:rPr lang="ru-RU" dirty="0"/>
              <a:t>Удаляем подозрительные наблюдения</a:t>
            </a:r>
          </a:p>
          <a:p>
            <a:r>
              <a:rPr lang="ru-RU" dirty="0"/>
              <a:t>Меняем модель, если влиятельных наблюдений много</a:t>
            </a:r>
          </a:p>
        </p:txBody>
      </p:sp>
    </p:spTree>
    <p:extLst>
      <p:ext uri="{BB962C8B-B14F-4D97-AF65-F5344CB8AC3E}">
        <p14:creationId xmlns:p14="http://schemas.microsoft.com/office/powerpoint/2010/main" val="1002100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9D576-BCA2-B24D-373C-D819F5DC2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Суммируем: </a:t>
            </a:r>
            <a:r>
              <a:rPr lang="ru-RU" sz="4000" b="1" dirty="0" err="1"/>
              <a:t>пайплайн</a:t>
            </a:r>
            <a:r>
              <a:rPr lang="ru-RU" sz="4000" b="1" dirty="0"/>
              <a:t> линейной регрессии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3E71DC-B975-52BA-4A7B-68ABA61FA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ru-RU" dirty="0"/>
              <a:t>Формулировка гипотез</a:t>
            </a:r>
          </a:p>
          <a:p>
            <a:pPr marL="514350" indent="-514350">
              <a:buAutoNum type="arabicParenR"/>
            </a:pPr>
            <a:r>
              <a:rPr lang="ru-RU" dirty="0"/>
              <a:t>Корреляционный анализ</a:t>
            </a:r>
          </a:p>
          <a:p>
            <a:pPr marL="514350" indent="-514350">
              <a:buAutoNum type="arabicParenR"/>
            </a:pPr>
            <a:r>
              <a:rPr lang="ru-RU" dirty="0"/>
              <a:t>Построение модели</a:t>
            </a:r>
          </a:p>
          <a:p>
            <a:pPr marL="514350" indent="-514350">
              <a:buAutoNum type="arabicParenR"/>
            </a:pPr>
            <a:r>
              <a:rPr lang="ru-RU" dirty="0"/>
              <a:t>Проверка допущений модели</a:t>
            </a:r>
          </a:p>
          <a:p>
            <a:pPr marL="514350" indent="-514350">
              <a:buAutoNum type="arabicParenR"/>
            </a:pPr>
            <a:r>
              <a:rPr lang="ru-RU" dirty="0"/>
              <a:t>Содержательная интерпретация модели в целом, и отдельных предикторов</a:t>
            </a:r>
          </a:p>
        </p:txBody>
      </p:sp>
    </p:spTree>
    <p:extLst>
      <p:ext uri="{BB962C8B-B14F-4D97-AF65-F5344CB8AC3E}">
        <p14:creationId xmlns:p14="http://schemas.microsoft.com/office/powerpoint/2010/main" val="1156648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17830-8746-F8A5-2162-A0FA4012F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выбрать лучшую модель?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8F36A1-582D-1C4A-B49D-4EF1A8B6A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224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Информационные критерии – оценивают количество информации, которое было потеряно при описании данных нашей моделью</a:t>
            </a:r>
          </a:p>
          <a:p>
            <a:endParaRPr lang="ru-RU" dirty="0"/>
          </a:p>
          <a:p>
            <a:r>
              <a:rPr lang="en-US" b="1" dirty="0"/>
              <a:t>AIC</a:t>
            </a:r>
            <a:r>
              <a:rPr lang="en-US" dirty="0"/>
              <a:t> (Akaike Information Criterion)</a:t>
            </a:r>
          </a:p>
          <a:p>
            <a:r>
              <a:rPr lang="en-US" b="1" dirty="0"/>
              <a:t>BIC</a:t>
            </a:r>
            <a:r>
              <a:rPr lang="en-US" dirty="0"/>
              <a:t> (Bayesian Information Criterion)</a:t>
            </a:r>
            <a:endParaRPr lang="ru-RU" dirty="0"/>
          </a:p>
          <a:p>
            <a:endParaRPr lang="ru-RU" dirty="0"/>
          </a:p>
          <a:p>
            <a:r>
              <a:rPr lang="ru-RU" dirty="0"/>
              <a:t>Чем меньше потеря данных – тем лучше!</a:t>
            </a:r>
            <a:endParaRPr lang="en-US" dirty="0"/>
          </a:p>
          <a:p>
            <a:endParaRPr lang="en-US" dirty="0"/>
          </a:p>
          <a:p>
            <a:r>
              <a:rPr lang="en-US" dirty="0"/>
              <a:t>General note: </a:t>
            </a:r>
            <a:r>
              <a:rPr lang="ru-RU" dirty="0"/>
              <a:t>простую модель легче интерпретировать, сложная модель работает лучше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25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6E965-E0C7-AFA8-4EE7-152AC2D35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Категориальные предикторы в линейной регрессии</a:t>
            </a:r>
          </a:p>
        </p:txBody>
      </p:sp>
    </p:spTree>
    <p:extLst>
      <p:ext uri="{BB962C8B-B14F-4D97-AF65-F5344CB8AC3E}">
        <p14:creationId xmlns:p14="http://schemas.microsoft.com/office/powerpoint/2010/main" val="2793555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4E4D6-C65B-BBED-427F-43106D37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Добавление категориальных предикторов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AF8454-A33C-CEC2-6E75-880787006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Если переменная принимает всего 2 значения, можно добавить ее в модель. Если значений больше, то используется </a:t>
            </a:r>
            <a:r>
              <a:rPr lang="en-US" dirty="0"/>
              <a:t>dummy-encoding </a:t>
            </a:r>
            <a:r>
              <a:rPr lang="ru-RU" dirty="0"/>
              <a:t>и в зависимости от того, как мы перекодируем переменную, будет меняться интерпретация коэффициентов модели.</a:t>
            </a:r>
          </a:p>
        </p:txBody>
      </p:sp>
    </p:spTree>
    <p:extLst>
      <p:ext uri="{BB962C8B-B14F-4D97-AF65-F5344CB8AC3E}">
        <p14:creationId xmlns:p14="http://schemas.microsoft.com/office/powerpoint/2010/main" val="506752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82B9D-79E8-9707-D2E6-4C9658570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18FFF-DC00-9B30-7640-DD83251A0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Параметризация предикторов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BE777-70DB-EE47-601A-9065166DE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b="1" dirty="0"/>
              <a:t>Treatment contrasts</a:t>
            </a:r>
            <a:r>
              <a:rPr lang="ru-RU" dirty="0"/>
              <a:t> (</a:t>
            </a:r>
            <a:r>
              <a:rPr lang="en-US" dirty="0"/>
              <a:t>default)</a:t>
            </a:r>
          </a:p>
          <a:p>
            <a:r>
              <a:rPr lang="ru-RU" dirty="0"/>
              <a:t>Коэффициенты модели означают разницу зависимой переменной в сравнении с контрольной группой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73E81D-FCBA-28E1-2893-4DC660F5C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9522"/>
            <a:ext cx="12192000" cy="357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96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CD98B-5A89-5FD2-A3A1-E0808359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 / one-hot encoding</a:t>
            </a:r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4F562CF-B391-FB58-D676-6E8D42D4BBFB}"/>
              </a:ext>
            </a:extLst>
          </p:cNvPr>
          <p:cNvGrpSpPr/>
          <p:nvPr/>
        </p:nvGrpSpPr>
        <p:grpSpPr>
          <a:xfrm>
            <a:off x="504825" y="1292225"/>
            <a:ext cx="7191375" cy="2984500"/>
            <a:chOff x="504825" y="1292225"/>
            <a:chExt cx="7972425" cy="3257550"/>
          </a:xfrm>
        </p:grpSpPr>
        <p:pic>
          <p:nvPicPr>
            <p:cNvPr id="1026" name="Picture 2" descr="Encoding Categorical Variables: One-hot vs Dummy Encoding | Towards Data  Science">
              <a:extLst>
                <a:ext uri="{FF2B5EF4-FFF2-40B4-BE49-F238E27FC236}">
                  <a16:creationId xmlns:a16="http://schemas.microsoft.com/office/drawing/2014/main" id="{ED17F61E-AAD3-5658-00C5-AF91594DA1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825" y="1292225"/>
              <a:ext cx="7972425" cy="3257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E530A1EE-34A6-7F35-F752-51BB5F5712E0}"/>
                </a:ext>
              </a:extLst>
            </p:cNvPr>
            <p:cNvGrpSpPr/>
            <p:nvPr/>
          </p:nvGrpSpPr>
          <p:grpSpPr>
            <a:xfrm>
              <a:off x="4621855" y="1833440"/>
              <a:ext cx="1022040" cy="2175120"/>
              <a:chOff x="4974280" y="2368796"/>
              <a:chExt cx="1022040" cy="2175120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3">
                <p14:nvContentPartPr>
                  <p14:cNvPr id="4" name="Рукописный ввод 3">
                    <a:extLst>
                      <a:ext uri="{FF2B5EF4-FFF2-40B4-BE49-F238E27FC236}">
                        <a16:creationId xmlns:a16="http://schemas.microsoft.com/office/drawing/2014/main" id="{92B7F7DB-AA23-6A47-411D-7C43FDD89194}"/>
                      </a:ext>
                    </a:extLst>
                  </p14:cNvPr>
                  <p14:cNvContentPartPr/>
                  <p14:nvPr/>
                </p14:nvContentPartPr>
                <p14:xfrm>
                  <a:off x="5048800" y="2402276"/>
                  <a:ext cx="835920" cy="2067480"/>
                </p14:xfrm>
              </p:contentPart>
            </mc:Choice>
            <mc:Fallback xmlns="">
              <p:pic>
                <p:nvPicPr>
                  <p:cNvPr id="4" name="Рукописный ввод 3">
                    <a:extLst>
                      <a:ext uri="{FF2B5EF4-FFF2-40B4-BE49-F238E27FC236}">
                        <a16:creationId xmlns:a16="http://schemas.microsoft.com/office/drawing/2014/main" id="{92B7F7DB-AA23-6A47-411D-7C43FDD89194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985800" y="2024636"/>
                    <a:ext cx="961560" cy="282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5">
                <p14:nvContentPartPr>
                  <p14:cNvPr id="5" name="Рукописный ввод 4">
                    <a:extLst>
                      <a:ext uri="{FF2B5EF4-FFF2-40B4-BE49-F238E27FC236}">
                        <a16:creationId xmlns:a16="http://schemas.microsoft.com/office/drawing/2014/main" id="{33B1DD86-458F-81D3-A8AF-81D9579A7821}"/>
                      </a:ext>
                    </a:extLst>
                  </p14:cNvPr>
                  <p14:cNvContentPartPr/>
                  <p14:nvPr/>
                </p14:nvContentPartPr>
                <p14:xfrm>
                  <a:off x="4974280" y="2368796"/>
                  <a:ext cx="1022040" cy="2175120"/>
                </p14:xfrm>
              </p:contentPart>
            </mc:Choice>
            <mc:Fallback xmlns="">
              <p:pic>
                <p:nvPicPr>
                  <p:cNvPr id="5" name="Рукописный ввод 4">
                    <a:extLst>
                      <a:ext uri="{FF2B5EF4-FFF2-40B4-BE49-F238E27FC236}">
                        <a16:creationId xmlns:a16="http://schemas.microsoft.com/office/drawing/2014/main" id="{33B1DD86-458F-81D3-A8AF-81D9579A7821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911640" y="1991156"/>
                    <a:ext cx="1147680" cy="29307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A70E45-A5B5-542F-FC24-3A4FBFAFFB0A}"/>
                  </a:ext>
                </a:extLst>
              </p:cNvPr>
              <p:cNvSpPr txBox="1"/>
              <p:nvPr/>
            </p:nvSpPr>
            <p:spPr>
              <a:xfrm>
                <a:off x="838200" y="4276725"/>
                <a:ext cx="597659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3200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32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sz="32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3200" i="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32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sz="3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ru-RU" sz="3200" i="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32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sz="3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ru-RU" sz="32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𝑙𝑢𝑒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A70E45-A5B5-542F-FC24-3A4FBFAFF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76725"/>
                <a:ext cx="5976594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2B2EA30-5C6B-3A88-C1CB-A8550297C98B}"/>
              </a:ext>
            </a:extLst>
          </p:cNvPr>
          <p:cNvSpPr txBox="1"/>
          <p:nvPr/>
        </p:nvSpPr>
        <p:spPr>
          <a:xfrm>
            <a:off x="984559" y="4965610"/>
            <a:ext cx="5068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y</a:t>
            </a:r>
            <a:r>
              <a:rPr lang="en-US" dirty="0"/>
              <a:t> – </a:t>
            </a:r>
            <a:r>
              <a:rPr lang="ru-RU" dirty="0"/>
              <a:t>ЗП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Color </a:t>
            </a:r>
            <a:r>
              <a:rPr lang="en-US" dirty="0"/>
              <a:t>– </a:t>
            </a:r>
            <a:r>
              <a:rPr lang="ru-RU" dirty="0"/>
              <a:t>категориальная НП, принимает </a:t>
            </a:r>
            <a:r>
              <a:rPr lang="en-US" dirty="0"/>
              <a:t>3</a:t>
            </a:r>
            <a:r>
              <a:rPr lang="ru-RU" dirty="0"/>
              <a:t> уровня (</a:t>
            </a:r>
            <a:r>
              <a:rPr lang="en-US" dirty="0"/>
              <a:t>red, green, blue)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1625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C0DF-3C2F-8F51-DA3A-9F5C1C953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5A828-565A-ADBE-2A96-1D1247AF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Параметризация эффектов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CF3F44-7E8A-04B6-FDB2-015534717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b="1" dirty="0"/>
              <a:t>Sum contrasts</a:t>
            </a:r>
          </a:p>
          <a:p>
            <a:r>
              <a:rPr lang="ru-RU" dirty="0"/>
              <a:t>Коэффициенты модели означают разницу зависимой переменной в сравнении с общим средним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0848DA-FFE3-EBCF-AA15-9BC8B074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7404"/>
            <a:ext cx="12192000" cy="355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660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CA0869-A4E6-9E93-6747-415EF8AA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44087D-05CF-0D61-2B2C-53A21F38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1F5596-73CC-CCDF-1928-D9FFE040A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12192000" cy="576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78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A6AF6-E72A-A355-CD75-F77111597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со взаимодействием предикторов</a:t>
            </a:r>
          </a:p>
        </p:txBody>
      </p:sp>
      <p:pic>
        <p:nvPicPr>
          <p:cNvPr id="11266" name="Picture 2" descr="Regression Modelling for Biostatistics 1 - 6 Interaction and Collinearity">
            <a:extLst>
              <a:ext uri="{FF2B5EF4-FFF2-40B4-BE49-F238E27FC236}">
                <a16:creationId xmlns:a16="http://schemas.microsoft.com/office/drawing/2014/main" id="{985C4743-87D8-5D61-0F06-101E16839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347" y="2375942"/>
            <a:ext cx="5587869" cy="440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17C192-B821-FB7D-5EC8-F4DB0ECCB0CA}"/>
                  </a:ext>
                </a:extLst>
              </p:cNvPr>
              <p:cNvSpPr txBox="1"/>
              <p:nvPr/>
            </p:nvSpPr>
            <p:spPr>
              <a:xfrm>
                <a:off x="213916" y="1848649"/>
                <a:ext cx="694888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i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𝐺𝑟𝑜𝑢𝑝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fName>
                        <m:e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𝐺𝑟𝑜𝑢𝑝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17C192-B821-FB7D-5EC8-F4DB0ECCB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16" y="1848649"/>
                <a:ext cx="6948884" cy="369332"/>
              </a:xfrm>
              <a:prstGeom prst="rect">
                <a:avLst/>
              </a:prstGeom>
              <a:blipFill>
                <a:blip r:embed="rId3"/>
                <a:stretch>
                  <a:fillRect b="-31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BEAC6A9-8834-2C51-4302-BB0F63A9A45C}"/>
              </a:ext>
            </a:extLst>
          </p:cNvPr>
          <p:cNvSpPr txBox="1"/>
          <p:nvPr/>
        </p:nvSpPr>
        <p:spPr>
          <a:xfrm>
            <a:off x="600076" y="2600325"/>
            <a:ext cx="5068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y</a:t>
            </a:r>
            <a:r>
              <a:rPr lang="en-US" dirty="0"/>
              <a:t> – </a:t>
            </a:r>
            <a:r>
              <a:rPr lang="ru-RU" dirty="0"/>
              <a:t>ЗП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x </a:t>
            </a:r>
            <a:r>
              <a:rPr lang="en-US" dirty="0"/>
              <a:t>– </a:t>
            </a:r>
            <a:r>
              <a:rPr lang="ru-RU" dirty="0"/>
              <a:t>непрерывная НП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Group </a:t>
            </a:r>
            <a:r>
              <a:rPr lang="en-US" dirty="0"/>
              <a:t>– </a:t>
            </a:r>
            <a:r>
              <a:rPr lang="ru-RU" dirty="0"/>
              <a:t>категориальная НП, принимает 2 уровня (А и </a:t>
            </a:r>
            <a:r>
              <a:rPr lang="en-US" dirty="0"/>
              <a:t>B)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5878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65D76-E177-BCD8-018C-4F2EA77F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Синтаксис </a:t>
            </a:r>
            <a:r>
              <a:rPr lang="en-US" dirty="0" err="1"/>
              <a:t>lm</a:t>
            </a:r>
            <a:r>
              <a:rPr lang="en-US" dirty="0"/>
              <a:t>()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9567B8-0A84-B43C-765A-87E64E093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5431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ru-RU" sz="2000" dirty="0"/>
              <a:t>Модель с </a:t>
            </a:r>
            <a:r>
              <a:rPr lang="ru-RU" sz="2000" dirty="0" err="1"/>
              <a:t>интерсептом</a:t>
            </a:r>
            <a:r>
              <a:rPr lang="ru-RU" sz="2000" dirty="0"/>
              <a:t>: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highlight>
                  <a:srgbClr val="C0C0C0"/>
                </a:highlight>
              </a:rPr>
              <a:t>y ~ x1 + x2</a:t>
            </a:r>
            <a:r>
              <a:rPr lang="en-US" sz="2000" i="1" dirty="0"/>
              <a:t>		</a:t>
            </a:r>
            <a:r>
              <a:rPr lang="en-US" sz="2000" i="1" dirty="0">
                <a:highlight>
                  <a:srgbClr val="C0C0C0"/>
                </a:highlight>
              </a:rPr>
              <a:t>y ~ 1 + x1 + x2</a:t>
            </a:r>
          </a:p>
          <a:p>
            <a:pPr marL="0" indent="0">
              <a:buNone/>
            </a:pPr>
            <a:r>
              <a:rPr lang="en-US" sz="2000" dirty="0"/>
              <a:t>2. </a:t>
            </a:r>
            <a:r>
              <a:rPr lang="ru-RU" sz="2000" dirty="0"/>
              <a:t>Модель без </a:t>
            </a:r>
            <a:r>
              <a:rPr lang="ru-RU" sz="2000" dirty="0" err="1"/>
              <a:t>интерсепта</a:t>
            </a:r>
            <a:r>
              <a:rPr lang="ru-RU" sz="2000" dirty="0"/>
              <a:t>:</a:t>
            </a:r>
          </a:p>
          <a:p>
            <a:pPr marL="0" indent="0">
              <a:buNone/>
            </a:pPr>
            <a:r>
              <a:rPr lang="en-US" sz="2000" i="1" dirty="0">
                <a:highlight>
                  <a:srgbClr val="C0C0C0"/>
                </a:highlight>
              </a:rPr>
              <a:t>y ~ </a:t>
            </a:r>
            <a:r>
              <a:rPr lang="ru-RU" sz="2000" i="1" dirty="0">
                <a:highlight>
                  <a:srgbClr val="C0C0C0"/>
                </a:highlight>
              </a:rPr>
              <a:t>0</a:t>
            </a:r>
            <a:r>
              <a:rPr lang="en-US" sz="2000" i="1" dirty="0">
                <a:highlight>
                  <a:srgbClr val="C0C0C0"/>
                </a:highlight>
              </a:rPr>
              <a:t> + x1 + x2</a:t>
            </a:r>
            <a:endParaRPr lang="ru-RU" sz="2000" i="1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lang="ru-RU" sz="2000" dirty="0"/>
              <a:t>3. Модель с переменными И взаимодействием:</a:t>
            </a:r>
          </a:p>
          <a:p>
            <a:pPr marL="0" indent="0">
              <a:buNone/>
            </a:pPr>
            <a:r>
              <a:rPr lang="en-US" sz="2000" i="1" dirty="0">
                <a:highlight>
                  <a:srgbClr val="C0C0C0"/>
                </a:highlight>
              </a:rPr>
              <a:t>y ~ x1 * x2</a:t>
            </a:r>
            <a:r>
              <a:rPr lang="en-US" sz="2000" i="1" dirty="0"/>
              <a:t>		</a:t>
            </a:r>
            <a:r>
              <a:rPr lang="en-US" sz="2000" i="1" dirty="0">
                <a:highlight>
                  <a:srgbClr val="C0C0C0"/>
                </a:highlight>
              </a:rPr>
              <a:t>y ~ x1 + x2 + x1 : x2</a:t>
            </a:r>
            <a:endParaRPr lang="en-US" sz="2000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lang="en-US" sz="2000" dirty="0"/>
              <a:t>4.</a:t>
            </a:r>
            <a:r>
              <a:rPr lang="ru-RU" sz="2000" dirty="0"/>
              <a:t> Модель только со взаимодействием:</a:t>
            </a:r>
          </a:p>
          <a:p>
            <a:pPr marL="0" indent="0">
              <a:buNone/>
            </a:pPr>
            <a:r>
              <a:rPr lang="en-US" sz="2000" i="1" dirty="0">
                <a:highlight>
                  <a:srgbClr val="C0C0C0"/>
                </a:highlight>
              </a:rPr>
              <a:t>y ~ x1 </a:t>
            </a:r>
            <a:r>
              <a:rPr lang="ru-RU" sz="2000" i="1" dirty="0">
                <a:highlight>
                  <a:srgbClr val="C0C0C0"/>
                </a:highlight>
              </a:rPr>
              <a:t>:</a:t>
            </a:r>
            <a:r>
              <a:rPr lang="en-US" sz="2000" i="1" dirty="0">
                <a:highlight>
                  <a:srgbClr val="C0C0C0"/>
                </a:highlight>
              </a:rPr>
              <a:t> x2</a:t>
            </a:r>
            <a:endParaRPr lang="ru-RU" sz="2000" i="1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lang="ru-RU" sz="2000" dirty="0"/>
              <a:t>5</a:t>
            </a:r>
            <a:r>
              <a:rPr lang="en-US" sz="2000" dirty="0"/>
              <a:t>.</a:t>
            </a:r>
            <a:r>
              <a:rPr lang="ru-RU" sz="2000" dirty="0"/>
              <a:t> Модель </a:t>
            </a:r>
            <a:r>
              <a:rPr lang="en-US" sz="2000" dirty="0"/>
              <a:t>c</a:t>
            </a:r>
            <a:r>
              <a:rPr lang="ru-RU" sz="2000" dirty="0"/>
              <a:t> параметризацией предикторов (</a:t>
            </a:r>
            <a:r>
              <a:rPr lang="en-US" sz="2000" dirty="0"/>
              <a:t>default)</a:t>
            </a:r>
            <a:r>
              <a:rPr lang="ru-RU" sz="2000" dirty="0"/>
              <a:t>:</a:t>
            </a:r>
          </a:p>
          <a:p>
            <a:pPr marL="0" indent="0">
              <a:buNone/>
            </a:pPr>
            <a:r>
              <a:rPr lang="en-US" sz="2000" i="1" dirty="0" err="1">
                <a:highlight>
                  <a:srgbClr val="C0C0C0"/>
                </a:highlight>
              </a:rPr>
              <a:t>lm</a:t>
            </a:r>
            <a:r>
              <a:rPr lang="en-US" sz="2000" i="1" dirty="0">
                <a:highlight>
                  <a:srgbClr val="C0C0C0"/>
                </a:highlight>
              </a:rPr>
              <a:t>(y ~ x1 + x2)</a:t>
            </a:r>
            <a:endParaRPr lang="ru-RU" sz="2000" i="1" dirty="0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 lang="en-US" sz="2000" dirty="0"/>
              <a:t>6.</a:t>
            </a:r>
            <a:r>
              <a:rPr lang="ru-RU" sz="2000" dirty="0"/>
              <a:t> Модель </a:t>
            </a:r>
            <a:r>
              <a:rPr lang="en-US" sz="2000" dirty="0"/>
              <a:t>c</a:t>
            </a:r>
            <a:r>
              <a:rPr lang="ru-RU" sz="2000" dirty="0"/>
              <a:t> параметризацией эффектов:</a:t>
            </a:r>
          </a:p>
          <a:p>
            <a:pPr marL="0" indent="0">
              <a:buNone/>
            </a:pPr>
            <a:r>
              <a:rPr lang="en-US" sz="2000" i="1" dirty="0" err="1">
                <a:highlight>
                  <a:srgbClr val="C0C0C0"/>
                </a:highlight>
              </a:rPr>
              <a:t>lm</a:t>
            </a:r>
            <a:r>
              <a:rPr lang="en-US" sz="2000" i="1" dirty="0">
                <a:highlight>
                  <a:srgbClr val="C0C0C0"/>
                </a:highlight>
              </a:rPr>
              <a:t>(y ~ x1 + x2, contrasts =list(x1=</a:t>
            </a:r>
            <a:r>
              <a:rPr lang="en-US" sz="2000" i="1" dirty="0" err="1">
                <a:highlight>
                  <a:srgbClr val="C0C0C0"/>
                </a:highlight>
              </a:rPr>
              <a:t>contr.sum</a:t>
            </a:r>
            <a:r>
              <a:rPr lang="en-US" sz="2000" i="1" dirty="0">
                <a:highlight>
                  <a:srgbClr val="C0C0C0"/>
                </a:highlight>
              </a:rPr>
              <a:t>))</a:t>
            </a:r>
            <a:endParaRPr lang="ru-RU" sz="2000" i="1" dirty="0">
              <a:highlight>
                <a:srgbClr val="C0C0C0"/>
              </a:highlight>
            </a:endParaRPr>
          </a:p>
          <a:p>
            <a:pPr marL="0" indent="0">
              <a:buNone/>
            </a:pPr>
            <a:endParaRPr lang="ru-RU" sz="20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77231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F3FA61-5900-49AE-F214-304D0634A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моделей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37910A-73CD-426B-9D8C-AFBE57BD9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Зачем?</a:t>
            </a:r>
          </a:p>
          <a:p>
            <a:pPr marL="514350" indent="-514350">
              <a:buAutoNum type="arabicParenR"/>
            </a:pPr>
            <a:r>
              <a:rPr lang="ru-RU" dirty="0" err="1"/>
              <a:t>Эксплораторный</a:t>
            </a:r>
            <a:r>
              <a:rPr lang="ru-RU" dirty="0"/>
              <a:t> анализ</a:t>
            </a:r>
          </a:p>
          <a:p>
            <a:pPr marL="514350" indent="-514350">
              <a:buAutoNum type="arabicParenR"/>
            </a:pPr>
            <a:r>
              <a:rPr lang="ru-RU" dirty="0"/>
              <a:t>Выбрать более простую и интерпретируемую модель</a:t>
            </a:r>
          </a:p>
          <a:p>
            <a:pPr marL="514350" indent="-514350">
              <a:buAutoNum type="arabi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Как? *С помощью частного </a:t>
            </a:r>
            <a:r>
              <a:rPr lang="en-US" dirty="0"/>
              <a:t>F-</a:t>
            </a:r>
            <a:r>
              <a:rPr lang="ru-RU" dirty="0"/>
              <a:t>критерия*</a:t>
            </a:r>
          </a:p>
          <a:p>
            <a:pPr marL="0" indent="0">
              <a:buNone/>
            </a:pPr>
            <a:r>
              <a:rPr lang="en-US" i="1" dirty="0" err="1">
                <a:highlight>
                  <a:srgbClr val="C0C0C0"/>
                </a:highlight>
              </a:rPr>
              <a:t>anova</a:t>
            </a:r>
            <a:r>
              <a:rPr lang="en-US" i="1" dirty="0">
                <a:highlight>
                  <a:srgbClr val="C0C0C0"/>
                </a:highlight>
              </a:rPr>
              <a:t>(model_1, model_2)</a:t>
            </a:r>
            <a:r>
              <a:rPr lang="en-US" i="1" dirty="0"/>
              <a:t> # </a:t>
            </a:r>
            <a:r>
              <a:rPr lang="ru-RU" i="1" dirty="0"/>
              <a:t>сравнение моделей</a:t>
            </a:r>
            <a:endParaRPr lang="en-US" i="1" dirty="0"/>
          </a:p>
          <a:p>
            <a:pPr marL="0" indent="0">
              <a:buNone/>
            </a:pPr>
            <a:r>
              <a:rPr lang="en-US" i="1" dirty="0">
                <a:highlight>
                  <a:srgbClr val="C0C0C0"/>
                </a:highlight>
              </a:rPr>
              <a:t>drop1(model, test=‘F’)</a:t>
            </a:r>
            <a:r>
              <a:rPr lang="en-US" i="1" dirty="0"/>
              <a:t> # </a:t>
            </a:r>
            <a:r>
              <a:rPr lang="ru-RU" i="1" dirty="0"/>
              <a:t>исключает</a:t>
            </a:r>
            <a:r>
              <a:rPr lang="en-US" i="1" dirty="0"/>
              <a:t> </a:t>
            </a:r>
            <a:r>
              <a:rPr lang="ru-RU" i="1" dirty="0"/>
              <a:t>по одному предиктору из модели, начиная со взаимодействий самого высокого порядка и сразу тестирует гипотезу о различии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2637538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864</Words>
  <Application>Microsoft Macintosh PowerPoint</Application>
  <PresentationFormat>Widescreen</PresentationFormat>
  <Paragraphs>162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Тема Office</vt:lpstr>
      <vt:lpstr>Линейная регрессия</vt:lpstr>
      <vt:lpstr>Линейная регрессия</vt:lpstr>
      <vt:lpstr>Рассмотрим математически</vt:lpstr>
      <vt:lpstr>Допущения модели</vt:lpstr>
      <vt:lpstr>Анализ модели</vt:lpstr>
      <vt:lpstr>Статистическая значимость модели и предикторов</vt:lpstr>
      <vt:lpstr>Интерпретации коэффициентов модели</vt:lpstr>
      <vt:lpstr>Множественная линейная регрессия</vt:lpstr>
      <vt:lpstr>Множественная линейная регрессия</vt:lpstr>
      <vt:lpstr>Оценка допущений модели</vt:lpstr>
      <vt:lpstr>Оценка допущений модели</vt:lpstr>
      <vt:lpstr>Оценка допущений модели</vt:lpstr>
      <vt:lpstr>Оценка допущений модели</vt:lpstr>
      <vt:lpstr>Оценка допущений модели</vt:lpstr>
      <vt:lpstr>Оценка допущений модели</vt:lpstr>
      <vt:lpstr>Оценка допущений модели</vt:lpstr>
      <vt:lpstr>Оценка допущений модели</vt:lpstr>
      <vt:lpstr>Оценка допущений модели</vt:lpstr>
      <vt:lpstr>Оценка допущений модели</vt:lpstr>
      <vt:lpstr>Оценка допущений модели</vt:lpstr>
      <vt:lpstr>Суммируем: пайплайн линейной регрессии</vt:lpstr>
      <vt:lpstr>Как выбрать лучшую модель?</vt:lpstr>
      <vt:lpstr>Категориальные предикторы в линейной регрессии</vt:lpstr>
      <vt:lpstr>Добавление категориальных предикторов</vt:lpstr>
      <vt:lpstr>Параметризация предикторов</vt:lpstr>
      <vt:lpstr>Dummy / one-hot encoding</vt:lpstr>
      <vt:lpstr>Параметризация эффектов</vt:lpstr>
      <vt:lpstr>PowerPoint Presentation</vt:lpstr>
      <vt:lpstr>Модели со взаимодействием предикторов</vt:lpstr>
      <vt:lpstr>Синтаксис lm()</vt:lpstr>
      <vt:lpstr>Сравнение моделей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Protopova</dc:creator>
  <cp:lastModifiedBy>Протопова Мария Артуровна</cp:lastModifiedBy>
  <cp:revision>49</cp:revision>
  <dcterms:created xsi:type="dcterms:W3CDTF">2025-01-11T19:26:26Z</dcterms:created>
  <dcterms:modified xsi:type="dcterms:W3CDTF">2026-01-07T16:32:35Z</dcterms:modified>
</cp:coreProperties>
</file>