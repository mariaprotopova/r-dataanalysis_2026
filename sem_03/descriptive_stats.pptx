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2" r:id="rId3"/>
    <p:sldId id="269" r:id="rId4"/>
    <p:sldId id="280" r:id="rId5"/>
    <p:sldId id="279" r:id="rId6"/>
    <p:sldId id="271" r:id="rId7"/>
    <p:sldId id="281" r:id="rId8"/>
    <p:sldId id="275" r:id="rId9"/>
    <p:sldId id="283" r:id="rId10"/>
    <p:sldId id="284" r:id="rId11"/>
    <p:sldId id="278" r:id="rId12"/>
    <p:sldId id="276" r:id="rId13"/>
    <p:sldId id="27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76"/>
    <p:restoredTop sz="94658"/>
  </p:normalViewPr>
  <p:slideViewPr>
    <p:cSldViewPr snapToGrid="0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74D52-81B2-2727-D2BC-9CF16BC2F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FC788-BB83-69A5-1BC4-75009E62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A4CC8-7CCE-618A-ACD0-1AE007497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34D-B7E1-674F-9CCB-4B69934792D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37A5A-C4CF-B6EA-99C8-A48D0E14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1D664-FFD2-A34A-BD9D-E2E3D706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137-98B4-CB4F-8648-ACEF7BD2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58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8A74B-1716-D53C-9738-F69F0BD61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1AAC7-638D-6481-2FF3-383A8D12F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13DE3-1C89-1A70-4790-AE48AA02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34D-B7E1-674F-9CCB-4B69934792D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95D42-5B77-167D-2E00-09E4D823F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AD7C0-0F1B-55B9-D499-3B04A203D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137-98B4-CB4F-8648-ACEF7BD2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16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C11B-4DB5-7486-FC9F-040039B80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6A4E-7DA4-30F2-8EF8-ED028E050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D34D4-465A-B85C-4823-0EA92692B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34D-B7E1-674F-9CCB-4B69934792D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6776-BD83-5F10-32E8-336F0113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17371-AA3C-C592-E85B-EAF3C78AD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137-98B4-CB4F-8648-ACEF7BD2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2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56400-CAD6-36C2-E3CE-4336BB39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72E1A-9F9F-477C-B150-EAB10F850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6670E-F1D0-AA56-E4C6-7852D2E07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6855B-6F5D-B7F5-A50C-19F720E69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34D-B7E1-674F-9CCB-4B69934792D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FDFB4-9F3F-71EA-1F9E-7182A811A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48422-1D30-B370-B3EE-0AE2556FF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137-98B4-CB4F-8648-ACEF7BD2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2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24B21-A031-093D-6057-D97366C6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321C2-6CDC-2B04-ED5B-EFD6C52E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625AD-2F9F-C49F-69EE-2AB34CC58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E7D1D7-8561-9BD2-9DB0-E0B04A8B8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CB45F9-57A7-BAC5-96E5-6DCD7A078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3DB46E-5248-76C8-1B0C-A7B59F634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34D-B7E1-674F-9CCB-4B69934792D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9C2AF0-6CF2-B01A-3669-024C23F18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A17CE6-F688-B78C-CF7F-ED93097B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137-98B4-CB4F-8648-ACEF7BD2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66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CC68-D84E-00B4-31A6-63A0B2160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83075-3DC5-53EE-3248-3AE4CC50A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34D-B7E1-674F-9CCB-4B69934792D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46E1-8A70-FE6E-D2CA-3FD3D6E64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DBE5C-AD90-5BCD-09BF-FAF40B10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137-98B4-CB4F-8648-ACEF7BD2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79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4CDD61-616C-CD67-D491-0B40373C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34D-B7E1-674F-9CCB-4B69934792D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8A98C-46BD-8EB2-8BB0-EA58C6B79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DDD13-0197-C2CE-8B34-B674E0BE7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137-98B4-CB4F-8648-ACEF7BD2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50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BBCAC-CEAD-A092-D286-528EF8B3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8F8A9-FD94-5B3F-7A3D-F6EFAE168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BB73D-45DB-495E-B91B-27837CB7D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1C866-4B79-CA04-EA37-BBAB85A4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34D-B7E1-674F-9CCB-4B69934792D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39457-0EE2-7B74-5EF7-4463F622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CCC68-9587-D1FB-FBA6-FB156EC8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137-98B4-CB4F-8648-ACEF7BD2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8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281E-BD53-B1E0-11F6-16B6503DB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5F1FF2-ADD0-3728-7E3F-18D854D52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03705-6FC1-871D-609A-1AB619F56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C7096-C458-2104-C56D-06CC10465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34D-B7E1-674F-9CCB-4B69934792D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7B3C5-21C3-6705-1DA7-49AE4BFA3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5D0E7-50C5-5431-2BE1-D97BED53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137-98B4-CB4F-8648-ACEF7BD2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16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ABA45-D409-D34B-668C-D837471DF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BA84D-9838-93A6-0B63-7C15ACF34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F27E2-8D41-C2D7-499D-358D353D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34D-B7E1-674F-9CCB-4B69934792D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00606-4345-5055-0998-84AC9229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B393A-9F50-0DC5-BDC2-06F8E8FAD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137-98B4-CB4F-8648-ACEF7BD2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75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7B0B52-7EF0-B8BE-F9F2-FC9C57E6E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0D721-78BA-1F14-0275-BD3D771FA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66D09-3409-C894-A558-F15231589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A34D-B7E1-674F-9CCB-4B69934792D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19247-954C-E653-E466-A3CBFC84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31F3A-9BCD-C34C-C13F-17232BAB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137-98B4-CB4F-8648-ACEF7BD2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5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C07E66-6CA9-9725-F683-B34024EF2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6CD09-1CC1-42D4-0A10-670AF8F47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EB5F5-3F10-96D9-8AA1-385C28DD1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6A34D-B7E1-674F-9CCB-4B69934792D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A3573-95AE-6470-5EBB-4299C200E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53255-3D9D-9E4E-B2C9-C9493C09C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A4137-98B4-CB4F-8648-ACEF7BD25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0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93810-7354-965F-7214-1D85440354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Описательная статистика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70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94EAF-68F6-820C-6A88-078019AE9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084F4-335F-DE46-FEB1-598BA1CC2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222" y="1690688"/>
            <a:ext cx="4807688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Описательная статистика</a:t>
            </a:r>
            <a:r>
              <a:rPr lang="ru-RU" dirty="0"/>
              <a:t> – описание, обобщение и систематизация имеющихся данных в графиках и таблицах (без выводов о генеральной совокупности)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0C1C83-9787-1D50-9B47-FFD633F31B2E}"/>
              </a:ext>
            </a:extLst>
          </p:cNvPr>
          <p:cNvSpPr txBox="1">
            <a:spLocks/>
          </p:cNvSpPr>
          <p:nvPr/>
        </p:nvSpPr>
        <p:spPr>
          <a:xfrm>
            <a:off x="5936511" y="1690688"/>
            <a:ext cx="48076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Статистический вывод</a:t>
            </a:r>
            <a:r>
              <a:rPr lang="ru-RU" dirty="0"/>
              <a:t> – обобщение данных выборки, чтобы сделать выводы о генеральной совокупности, параметры которой неизвестны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69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7BB4-A477-C6EA-959C-C956BAAC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5D70D-7968-F714-0144-7AA3D6BF9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Описательная статистика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654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escriptive Statistics | Definitions, Types, Examples">
            <a:extLst>
              <a:ext uri="{FF2B5EF4-FFF2-40B4-BE49-F238E27FC236}">
                <a16:creationId xmlns:a16="http://schemas.microsoft.com/office/drawing/2014/main" id="{50E0D481-A457-8DBF-31B2-41BE44537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0"/>
            <a:ext cx="10261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954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5BA59-1453-053B-A506-878843BC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AEFD-7365-2C9A-C7CD-398765FAC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Описательные статистики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22E6E-6CD0-3BC5-AE50-636565C72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Обобщенные статистики, количественно описывающие характеристики данных</a:t>
            </a:r>
          </a:p>
          <a:p>
            <a:pPr marL="0" indent="0">
              <a:buNone/>
            </a:pPr>
            <a:r>
              <a:rPr lang="ru-RU" dirty="0"/>
              <a:t>Зачем?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Меры центральной тенденции</a:t>
            </a:r>
            <a:r>
              <a:rPr lang="ru-RU" dirty="0"/>
              <a:t> – самое «емкое» описание данных (=одним числом)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511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476FD-B99F-F919-8690-0D954470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03DF1-A8E7-9068-AE73-EB4ADAA81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Меры центральной тенденции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A1146F-E960-7085-8CCA-B07A52B10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480769"/>
              </p:ext>
            </p:extLst>
          </p:nvPr>
        </p:nvGraphicFramePr>
        <p:xfrm>
          <a:off x="0" y="1696791"/>
          <a:ext cx="12192000" cy="42379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9447">
                  <a:extLst>
                    <a:ext uri="{9D8B030D-6E8A-4147-A177-3AD203B41FA5}">
                      <a16:colId xmlns:a16="http://schemas.microsoft.com/office/drawing/2014/main" val="1906889795"/>
                    </a:ext>
                  </a:extLst>
                </a:gridCol>
                <a:gridCol w="3155120">
                  <a:extLst>
                    <a:ext uri="{9D8B030D-6E8A-4147-A177-3AD203B41FA5}">
                      <a16:colId xmlns:a16="http://schemas.microsoft.com/office/drawing/2014/main" val="2121217631"/>
                    </a:ext>
                  </a:extLst>
                </a:gridCol>
                <a:gridCol w="3622544">
                  <a:extLst>
                    <a:ext uri="{9D8B030D-6E8A-4147-A177-3AD203B41FA5}">
                      <a16:colId xmlns:a16="http://schemas.microsoft.com/office/drawing/2014/main" val="3474715566"/>
                    </a:ext>
                  </a:extLst>
                </a:gridCol>
                <a:gridCol w="3014889">
                  <a:extLst>
                    <a:ext uri="{9D8B030D-6E8A-4147-A177-3AD203B41FA5}">
                      <a16:colId xmlns:a16="http://schemas.microsoft.com/office/drawing/2014/main" val="2356039188"/>
                    </a:ext>
                  </a:extLst>
                </a:gridCol>
              </a:tblGrid>
              <a:tr h="954967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Мода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Медиана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Среднее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307598"/>
                  </a:ext>
                </a:extLst>
              </a:tr>
              <a:tr h="2094290">
                <a:tc>
                  <a:txBody>
                    <a:bodyPr/>
                    <a:lstStyle/>
                    <a:p>
                      <a:r>
                        <a:rPr lang="ru-RU" sz="2400" dirty="0"/>
                        <a:t>Определение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Самое часто встречающееся значение переменной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/>
                        <a:t>значение, которое делит все значения переменной пополам (50</a:t>
                      </a:r>
                      <a:r>
                        <a:rPr lang="en-US" sz="2400" dirty="0"/>
                        <a:t>% </a:t>
                      </a:r>
                      <a:r>
                        <a:rPr lang="ru-RU" sz="2400" dirty="0"/>
                        <a:t>значений ниже медианы, </a:t>
                      </a:r>
                      <a:r>
                        <a:rPr lang="en-US" sz="2400" dirty="0"/>
                        <a:t>50%</a:t>
                      </a:r>
                      <a:r>
                        <a:rPr lang="ru-RU" sz="2400" dirty="0"/>
                        <a:t> -- выше).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797977"/>
                  </a:ext>
                </a:extLst>
              </a:tr>
              <a:tr h="954967">
                <a:tc>
                  <a:txBody>
                    <a:bodyPr/>
                    <a:lstStyle/>
                    <a:p>
                      <a:r>
                        <a:rPr lang="ru-RU" sz="2400" dirty="0"/>
                        <a:t>Шкала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Номинальная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Порядковая</a:t>
                      </a:r>
                      <a:r>
                        <a:rPr lang="en-US" sz="2400" dirty="0"/>
                        <a:t>, </a:t>
                      </a:r>
                      <a:r>
                        <a:rPr lang="ru-RU" sz="2400" dirty="0"/>
                        <a:t>интервальная,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Порядковая</a:t>
                      </a:r>
                      <a:r>
                        <a:rPr lang="en-US" sz="2400" dirty="0"/>
                        <a:t>, </a:t>
                      </a:r>
                      <a:r>
                        <a:rPr lang="ru-RU" sz="2400" dirty="0"/>
                        <a:t>интервальная, абсолютная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8159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75480D-610A-1BB2-AEE3-ED78D4906CD8}"/>
              </a:ext>
            </a:extLst>
          </p:cNvPr>
          <p:cNvSpPr txBox="1"/>
          <p:nvPr/>
        </p:nvSpPr>
        <p:spPr>
          <a:xfrm>
            <a:off x="578498" y="6123543"/>
            <a:ext cx="11010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NB! </a:t>
            </a:r>
            <a:r>
              <a:rPr lang="ru-RU" sz="2800" dirty="0"/>
              <a:t>У нормального распределения медиана и среднее совпадают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83277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91357-06A7-89E8-578B-DEF57D12F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Частоты</a:t>
            </a:r>
            <a:endParaRPr lang="en-US" dirty="0"/>
          </a:p>
        </p:txBody>
      </p:sp>
      <p:pic>
        <p:nvPicPr>
          <p:cNvPr id="10242" name="Picture 2" descr="Frequency Table in Math – Definition &amp; Examples">
            <a:extLst>
              <a:ext uri="{FF2B5EF4-FFF2-40B4-BE49-F238E27FC236}">
                <a16:creationId xmlns:a16="http://schemas.microsoft.com/office/drawing/2014/main" id="{90A5B7EB-511C-3BF4-78CB-F2ABFBE4A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4" t="14695" r="2382" b="25441"/>
          <a:stretch>
            <a:fillRect/>
          </a:stretch>
        </p:blipFill>
        <p:spPr bwMode="auto">
          <a:xfrm>
            <a:off x="838200" y="2099387"/>
            <a:ext cx="9834465" cy="410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7883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E0AA-00A1-40F8-C231-B5383DF42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99FBE-B58F-208C-C516-510CA7DF6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Меры разброса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824A1-8DB1-C72D-5BBE-3524CC2FB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35" y="1825625"/>
            <a:ext cx="10515600" cy="4351338"/>
          </a:xfrm>
        </p:spPr>
        <p:txBody>
          <a:bodyPr/>
          <a:lstStyle/>
          <a:p>
            <a:r>
              <a:rPr lang="en-US" b="1" dirty="0"/>
              <a:t>Min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b="1" dirty="0"/>
              <a:t>Max</a:t>
            </a:r>
          </a:p>
          <a:p>
            <a:r>
              <a:rPr lang="ru-RU" b="1" dirty="0"/>
              <a:t>Размах (</a:t>
            </a:r>
            <a:r>
              <a:rPr lang="en-US" b="1" dirty="0"/>
              <a:t>range)</a:t>
            </a:r>
            <a:endParaRPr lang="ru-RU" b="1" dirty="0"/>
          </a:p>
          <a:p>
            <a:r>
              <a:rPr lang="ru-RU" b="1" dirty="0"/>
              <a:t>Дисперсия</a:t>
            </a:r>
            <a:r>
              <a:rPr lang="en-US" b="1" dirty="0"/>
              <a:t> </a:t>
            </a:r>
            <a:r>
              <a:rPr lang="ru-RU" b="1" dirty="0"/>
              <a:t>(</a:t>
            </a:r>
            <a:r>
              <a:rPr lang="en-US" b="1" dirty="0"/>
              <a:t>𝜎</a:t>
            </a:r>
            <a:r>
              <a:rPr lang="en-US" b="1" baseline="30000" dirty="0"/>
              <a:t>2</a:t>
            </a:r>
            <a:r>
              <a:rPr lang="ru-RU" b="1" dirty="0"/>
              <a:t>)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ru-RU" dirty="0"/>
              <a:t>разброс значений переменной</a:t>
            </a:r>
          </a:p>
          <a:p>
            <a:r>
              <a:rPr lang="ru-RU" b="1" dirty="0"/>
              <a:t>Стандартное отклонение</a:t>
            </a:r>
            <a:r>
              <a:rPr lang="en-US" b="1" dirty="0"/>
              <a:t> (𝜎)</a:t>
            </a:r>
            <a:endParaRPr lang="ru-RU" dirty="0"/>
          </a:p>
          <a:p>
            <a:r>
              <a:rPr lang="ru-RU" b="1" dirty="0"/>
              <a:t>Стандартная ошибка среднего</a:t>
            </a:r>
            <a:r>
              <a:rPr lang="en-US" dirty="0"/>
              <a:t> – </a:t>
            </a:r>
            <a:r>
              <a:rPr lang="ru-RU" dirty="0"/>
              <a:t>стандартное отклонение средних значений, полученных на большом количестве выборок</a:t>
            </a:r>
          </a:p>
          <a:p>
            <a:r>
              <a:rPr lang="ru-RU" b="1" dirty="0"/>
              <a:t>Квартили</a:t>
            </a:r>
            <a:r>
              <a:rPr lang="en-US" b="1" dirty="0"/>
              <a:t> – </a:t>
            </a:r>
            <a:r>
              <a:rPr lang="ru-RU" dirty="0"/>
              <a:t>делят выборку на 4 части, по 25</a:t>
            </a:r>
            <a:r>
              <a:rPr lang="en-US" dirty="0"/>
              <a:t>% </a:t>
            </a:r>
            <a:r>
              <a:rPr lang="ru-RU" dirty="0"/>
              <a:t>каждая</a:t>
            </a:r>
          </a:p>
          <a:p>
            <a:r>
              <a:rPr lang="ru-RU" b="1" dirty="0" err="1"/>
              <a:t>Межквартильный</a:t>
            </a:r>
            <a:r>
              <a:rPr lang="ru-RU" b="1" dirty="0"/>
              <a:t> размах</a:t>
            </a:r>
          </a:p>
        </p:txBody>
      </p:sp>
    </p:spTree>
    <p:extLst>
      <p:ext uri="{BB962C8B-B14F-4D97-AF65-F5344CB8AC3E}">
        <p14:creationId xmlns:p14="http://schemas.microsoft.com/office/powerpoint/2010/main" val="3484655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9CCB6-2255-E8BE-A632-3CE9641BE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Стандартное отклонение</a:t>
            </a:r>
            <a:endParaRPr lang="en-US" dirty="0"/>
          </a:p>
        </p:txBody>
      </p:sp>
      <p:pic>
        <p:nvPicPr>
          <p:cNvPr id="1026" name="Picture 2" descr="Illustration of low and high standard deviation. | Download Scientific  Diagram">
            <a:extLst>
              <a:ext uri="{FF2B5EF4-FFF2-40B4-BE49-F238E27FC236}">
                <a16:creationId xmlns:a16="http://schemas.microsoft.com/office/drawing/2014/main" id="{02224343-95DA-D3AA-B134-9D730BC62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492" y="4340995"/>
            <a:ext cx="6582508" cy="2392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ith regard to the standard deviation, illustrate how and why the larger  the deviation number, the more difficult it would be to predict an outcome.  Use specific examples to illustrate. | Homework.Study.com">
            <a:extLst>
              <a:ext uri="{FF2B5EF4-FFF2-40B4-BE49-F238E27FC236}">
                <a16:creationId xmlns:a16="http://schemas.microsoft.com/office/drawing/2014/main" id="{59CB1C49-945E-6D8C-FEB3-670ABC23A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92" y="2178049"/>
            <a:ext cx="5471434" cy="309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274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tandard Error vs Standard Deviation: Finding the Difference - SixSigma.us">
            <a:extLst>
              <a:ext uri="{FF2B5EF4-FFF2-40B4-BE49-F238E27FC236}">
                <a16:creationId xmlns:a16="http://schemas.microsoft.com/office/drawing/2014/main" id="{0576F0A3-0B22-AE2A-030B-AF6D38EB5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131" y="0"/>
            <a:ext cx="78057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391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970B-1D3F-5D02-5745-99079B558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Межквартильный</a:t>
            </a:r>
            <a:r>
              <a:rPr lang="ru-RU" dirty="0"/>
              <a:t> размах и выбросы</a:t>
            </a:r>
            <a:endParaRPr lang="en-US" dirty="0"/>
          </a:p>
        </p:txBody>
      </p:sp>
      <p:pic>
        <p:nvPicPr>
          <p:cNvPr id="8194" name="Picture 2" descr="Understanding Interquartile Range And Its Applications">
            <a:extLst>
              <a:ext uri="{FF2B5EF4-FFF2-40B4-BE49-F238E27FC236}">
                <a16:creationId xmlns:a16="http://schemas.microsoft.com/office/drawing/2014/main" id="{F1D72C07-79B8-449C-1832-DB71A5CF9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461" y="1759811"/>
            <a:ext cx="8865077" cy="3410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Outliers Formula | How To Calculate Outliers (Excel Template)">
            <a:extLst>
              <a:ext uri="{FF2B5EF4-FFF2-40B4-BE49-F238E27FC236}">
                <a16:creationId xmlns:a16="http://schemas.microsoft.com/office/drawing/2014/main" id="{AB95BCFC-E39B-FC42-E040-9B21AB961F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25" t="40649" r="10652" b="16947"/>
          <a:stretch>
            <a:fillRect/>
          </a:stretch>
        </p:blipFill>
        <p:spPr bwMode="auto">
          <a:xfrm>
            <a:off x="3836504" y="5170788"/>
            <a:ext cx="5028573" cy="139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105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C36E8-559D-8F42-8EC5-D4E710F2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1D3DD-4CE0-CF11-A311-6676895FC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Описательные статистики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384D0-1536-5A7D-5CCE-DA81E38BC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Асимметрия </a:t>
            </a:r>
            <a:r>
              <a:rPr lang="ru-RU" dirty="0"/>
              <a:t>– степень симметричности распределения относительно среднего значения</a:t>
            </a:r>
            <a:r>
              <a:rPr lang="en-US" dirty="0"/>
              <a:t>. </a:t>
            </a:r>
            <a:r>
              <a:rPr lang="ru-RU" dirty="0"/>
              <a:t>У нормального распределения асимметрия равна 0</a:t>
            </a:r>
            <a:endParaRPr lang="en-US" dirty="0"/>
          </a:p>
        </p:txBody>
      </p:sp>
      <p:pic>
        <p:nvPicPr>
          <p:cNvPr id="6146" name="Picture 2" descr="Importance of Skewness, Kurtosis, Co-efficient of Variation">
            <a:extLst>
              <a:ext uri="{FF2B5EF4-FFF2-40B4-BE49-F238E27FC236}">
                <a16:creationId xmlns:a16="http://schemas.microsoft.com/office/drawing/2014/main" id="{F15DE170-7EBB-CD9B-471B-88C5DA31D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29000"/>
            <a:ext cx="8190343" cy="3173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820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5DD1F-7F66-EBFE-451A-A2A028D78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4BD4D-4FCA-49B0-2969-3F4CBE86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Описательные статистики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41A72-484A-DBEC-2F9F-A42F9EC5C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Эксцесс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ru-RU" dirty="0"/>
              <a:t>показатель остроты пика распределения</a:t>
            </a:r>
            <a:r>
              <a:rPr lang="en-US" dirty="0"/>
              <a:t>. </a:t>
            </a:r>
            <a:r>
              <a:rPr lang="ru-RU" dirty="0"/>
              <a:t>У нормального распределения эксцесс равен 0</a:t>
            </a:r>
            <a:endParaRPr lang="en-US" dirty="0"/>
          </a:p>
        </p:txBody>
      </p:sp>
      <p:pic>
        <p:nvPicPr>
          <p:cNvPr id="7170" name="Picture 2" descr="Kurtosis and Skewness: Key metrics fault diagnosis in asset management">
            <a:extLst>
              <a:ext uri="{FF2B5EF4-FFF2-40B4-BE49-F238E27FC236}">
                <a16:creationId xmlns:a16="http://schemas.microsoft.com/office/drawing/2014/main" id="{F371243A-815D-E06A-B289-E97E86843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36895"/>
            <a:ext cx="7073309" cy="397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300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210</Words>
  <Application>Microsoft Macintosh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Описательная статистика</vt:lpstr>
      <vt:lpstr>Статистика</vt:lpstr>
      <vt:lpstr>Описательная статистика</vt:lpstr>
      <vt:lpstr>PowerPoint Presentation</vt:lpstr>
      <vt:lpstr>Описательные статистики</vt:lpstr>
      <vt:lpstr>Меры центральной тенденции</vt:lpstr>
      <vt:lpstr>Частоты</vt:lpstr>
      <vt:lpstr>Меры разброса</vt:lpstr>
      <vt:lpstr>Стандартное отклонение</vt:lpstr>
      <vt:lpstr>PowerPoint Presentation</vt:lpstr>
      <vt:lpstr>Межквартильный размах и выбросы</vt:lpstr>
      <vt:lpstr>Описательные статистики</vt:lpstr>
      <vt:lpstr>Описательные статистики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Протопова Мария Артуровна</dc:creator>
  <cp:lastModifiedBy>Протопова Мария Артуровна</cp:lastModifiedBy>
  <cp:revision>23</cp:revision>
  <dcterms:created xsi:type="dcterms:W3CDTF">2026-01-08T19:22:26Z</dcterms:created>
  <dcterms:modified xsi:type="dcterms:W3CDTF">2026-01-17T13:53:13Z</dcterms:modified>
</cp:coreProperties>
</file>