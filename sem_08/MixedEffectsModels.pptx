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79" r:id="rId9"/>
    <p:sldId id="280" r:id="rId10"/>
    <p:sldId id="267" r:id="rId11"/>
    <p:sldId id="263" r:id="rId12"/>
    <p:sldId id="264" r:id="rId13"/>
    <p:sldId id="268" r:id="rId14"/>
    <p:sldId id="269" r:id="rId15"/>
    <p:sldId id="270" r:id="rId16"/>
    <p:sldId id="272" r:id="rId17"/>
    <p:sldId id="273" r:id="rId18"/>
    <p:sldId id="271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9"/>
  </p:normalViewPr>
  <p:slideViewPr>
    <p:cSldViewPr snapToGrid="0">
      <p:cViewPr varScale="1">
        <p:scale>
          <a:sx n="108" d="100"/>
          <a:sy n="108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FCB72-3EB0-668C-D22F-0AB819BCF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FF9E84-44EA-BD45-3FFF-0D9070446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8C73D7-8B92-E0AA-EE0C-E07A2021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A02F67-14F1-A853-8F04-8B382664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821CB7-2FE6-946E-E55A-394AAA52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45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1BDF5-D3F0-BE8F-EB6E-CCA73F93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9004CB-4570-150B-73D3-38262B54D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9E30E9-D5E5-8FFA-0219-2BE4F7B5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632C78-A09E-D132-67F2-CF8C8A35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7FDC6-C0F5-53F7-6446-E12BF7CE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97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034E4-1163-7F60-6654-35281341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416ABF-4E8F-134F-DDEE-5F3FB878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A79289-8B7B-BFC2-A588-97D92E2D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4012C1-2965-D4B9-A6F7-0702589C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94DB19-B6C6-6AF9-4462-87E03656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44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35541-245F-CB88-0998-F1EF9B90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574EC6-68C6-0C61-AA55-F6ED4346E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B4DCDD-0AF4-C660-F7B0-B3925586D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D0DA-437C-76F8-6183-6C7758F0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D5D424-A1B0-3A7B-3291-6A982F65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569D59-454E-BC94-C38B-F9DA0DE4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59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CCDA9-9042-ADCD-8250-B7F8F2088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83835E-37BF-1C97-2AA9-2897F5FE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79F1D2-AEC0-751F-484D-6B9DB7888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D613688-F496-C86E-876A-0F75DB5EC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575F93-56CD-667D-11CF-6E5A90880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290939-E6E8-0FAF-83A4-AF9D13A1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807B54-67AB-44B8-6E0E-7E4D0841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C77791-45C1-020B-ACAD-FBDE884C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60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967B8-3EFB-E2DF-646A-97D56413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F686BB1-9782-AF3E-2CE7-2082752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D2B868-3474-7BAD-DDA3-B5639516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01347F-13FD-690B-A8DF-8230C123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19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0B625E-D00D-EA14-0884-AFE29983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93D6B3-7860-390F-CBB5-79721921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692BC4-FD43-9361-4A10-9238A35B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15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E098B-8B18-F91C-DF4F-E8F4C59A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F27AFD-D3F0-C693-D8DC-5F1B3A0D5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51507E-794D-1956-E95D-C5E398137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68DCE6-6A09-C720-6C34-AB374420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7FA4C6-C77F-70E0-492B-C11585E2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7B7AB3-E17D-AEE4-F186-4D827E0E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47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D9FE5-CF42-9E22-B61B-DB87829F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625F79-BEA4-0C1E-BA14-05F5D9962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4F8857-631F-91EA-ED28-A27E2077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8D7E19-3B89-E0CB-2115-A822CEB5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CFAD7E-04FF-E3D1-1ACF-4A59AB14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F129B0-7B47-F6D8-0D49-98BBFF86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63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60BD8-0001-2B4D-3F0E-0FA82341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FFDDAB-FFDB-19B8-DAD1-A3C7A5B9E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CE834-5240-CB77-6A49-1CDD9C2DF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BAF774-75D6-6433-FA4C-026063B1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1CCD6D-1DC3-7A59-C3B2-8814F98F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14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E56629E-5C82-001F-1C96-A7C11FEC3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1736BB-56DB-7D22-C259-1016E995E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450AC-D101-4693-A814-212CA53B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B0B5FB-6439-E7D9-978D-E759B5ED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658BAF-CD19-5923-EC71-27F0D0FB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54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A7835-767E-FABA-035D-F9A14EB1A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1718FC-11E4-8651-430C-A71706B78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9EAF14-2428-01B9-78E4-28211CF28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C5049-66AD-46E4-9A6D-1EAF49FC062B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B51577-3EA5-FED7-FBAF-0FC2E430E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168F88-9630-6EC8-727E-D1647E050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B4262-30B4-4251-A436-6315B09C6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29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elibrary.ru/item.asp?id=3562565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685FB-37EE-F763-52AA-241CF620A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160337"/>
          </a:xfrm>
        </p:spPr>
        <p:txBody>
          <a:bodyPr/>
          <a:lstStyle/>
          <a:p>
            <a:r>
              <a:rPr lang="ru-RU" dirty="0"/>
              <a:t>Линейные модели со смешанными эффектами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5080D8-294B-4224-E4C1-26B0A118C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35502"/>
            <a:ext cx="9144000" cy="1655762"/>
          </a:xfrm>
        </p:spPr>
        <p:txBody>
          <a:bodyPr/>
          <a:lstStyle/>
          <a:p>
            <a:r>
              <a:rPr lang="en-US" dirty="0"/>
              <a:t>Linear Mixed Effects Models</a:t>
            </a:r>
            <a:endParaRPr lang="ru-RU" dirty="0"/>
          </a:p>
        </p:txBody>
      </p:sp>
      <p:pic>
        <p:nvPicPr>
          <p:cNvPr id="1026" name="Picture 2" descr="Hierarchical linear models and lmer | R-bloggers">
            <a:extLst>
              <a:ext uri="{FF2B5EF4-FFF2-40B4-BE49-F238E27FC236}">
                <a16:creationId xmlns:a16="http://schemas.microsoft.com/office/drawing/2014/main" id="{0EB8B4F3-470C-5A24-5131-88FA59A34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48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22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749AB-A63B-5C1A-D5E9-50B48AB7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2D3B13-439C-9F8A-16EF-C668E43A8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Вспомним главные допущения обычных линейных моделей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76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23A7-2E01-9003-7D62-3A6934BD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D88C9-7406-0FAB-2B18-CD0EF32D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4C03A-AE83-DC0F-5271-EA563A6E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Вспомним главные допущения обычных линейных моделей</a:t>
            </a:r>
          </a:p>
          <a:p>
            <a:r>
              <a:rPr lang="ru-RU" dirty="0"/>
              <a:t>А что если данные на самом деле не являются независимыми? Если в данных есть группировка, которая мы не хотим исследовать?</a:t>
            </a:r>
          </a:p>
          <a:p>
            <a:r>
              <a:rPr lang="ru-RU" dirty="0"/>
              <a:t>Примеры?</a:t>
            </a:r>
          </a:p>
        </p:txBody>
      </p:sp>
    </p:spTree>
    <p:extLst>
      <p:ext uri="{BB962C8B-B14F-4D97-AF65-F5344CB8AC3E}">
        <p14:creationId xmlns:p14="http://schemas.microsoft.com/office/powerpoint/2010/main" val="25417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A6B3-22E3-12B2-9D93-49309A1D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29736-AAAE-8A7A-EA2B-B64AD46C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0D5413-2216-5F9F-DD72-F80E1E3C3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Вспомним главные допущения обычных линейных моделей</a:t>
            </a:r>
          </a:p>
          <a:p>
            <a:r>
              <a:rPr lang="ru-RU" dirty="0"/>
              <a:t>А что если данные на самом деле не являются независимыми? Если в данных есть группировка, которая мы не хотим исследовать?</a:t>
            </a:r>
          </a:p>
          <a:p>
            <a:r>
              <a:rPr lang="ru-RU" dirty="0"/>
              <a:t>Примеры?</a:t>
            </a:r>
          </a:p>
          <a:p>
            <a:endParaRPr lang="ru-RU" dirty="0"/>
          </a:p>
          <a:p>
            <a:r>
              <a:rPr lang="ru-RU" sz="2200" i="1" dirty="0"/>
              <a:t>измерения у одних и тех же людей в разное время (</a:t>
            </a:r>
            <a:r>
              <a:rPr lang="en-US" sz="2200" i="1" dirty="0"/>
              <a:t>longitudinal </a:t>
            </a:r>
            <a:r>
              <a:rPr lang="en-US" sz="2200" i="1" dirty="0" err="1"/>
              <a:t>exps</a:t>
            </a:r>
            <a:r>
              <a:rPr lang="ru-RU" sz="2200" i="1" dirty="0"/>
              <a:t>)</a:t>
            </a:r>
          </a:p>
          <a:p>
            <a:r>
              <a:rPr lang="ru-RU" sz="2200" i="1" dirty="0"/>
              <a:t>измерения в разных группах (школьники из разных классов одной параллели)</a:t>
            </a:r>
          </a:p>
          <a:p>
            <a:r>
              <a:rPr lang="ru-RU" sz="2200" i="1" dirty="0"/>
              <a:t>измерения с использованием разных типов оборудования (ЭЛТ, </a:t>
            </a:r>
            <a:r>
              <a:rPr lang="en-US" sz="2200" i="1" dirty="0"/>
              <a:t>CLD</a:t>
            </a:r>
            <a:r>
              <a:rPr lang="ru-RU" sz="2200" i="1" dirty="0"/>
              <a:t>, </a:t>
            </a:r>
            <a:r>
              <a:rPr lang="en-US" sz="2200" i="1" dirty="0"/>
              <a:t>QLED, OLED </a:t>
            </a:r>
            <a:r>
              <a:rPr lang="ru-RU" sz="2200" i="1" dirty="0"/>
              <a:t>и др. мониторы)</a:t>
            </a:r>
          </a:p>
        </p:txBody>
      </p:sp>
    </p:spTree>
    <p:extLst>
      <p:ext uri="{BB962C8B-B14F-4D97-AF65-F5344CB8AC3E}">
        <p14:creationId xmlns:p14="http://schemas.microsoft.com/office/powerpoint/2010/main" val="378797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7E615-7EBE-58BC-B867-F28D58B1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B563A-B5C1-C8AA-75E6-7B11CE2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928BD-6BDD-BFBF-99BC-3FBD7DDA1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 что если данные на самом деле не являются независимыми? Если в данных есть группировка, которую мы не хотим исследовать?</a:t>
            </a:r>
          </a:p>
          <a:p>
            <a:r>
              <a:rPr lang="ru-RU" dirty="0"/>
              <a:t>Возникаю внутригрупповые корреляции, которую </a:t>
            </a:r>
            <a:r>
              <a:rPr lang="ru-RU" b="1" dirty="0"/>
              <a:t>нельзя</a:t>
            </a:r>
            <a:r>
              <a:rPr lang="ru-RU" dirty="0"/>
              <a:t> игнорировать</a:t>
            </a:r>
          </a:p>
          <a:p>
            <a:r>
              <a:rPr lang="ru-RU" dirty="0"/>
              <a:t>Как можно учесть группировку данных?</a:t>
            </a:r>
          </a:p>
        </p:txBody>
      </p:sp>
    </p:spTree>
    <p:extLst>
      <p:ext uri="{BB962C8B-B14F-4D97-AF65-F5344CB8AC3E}">
        <p14:creationId xmlns:p14="http://schemas.microsoft.com/office/powerpoint/2010/main" val="389436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2854F-BB07-41D0-5DC7-487911F3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A0D36-331F-C2D4-A688-F723B119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7CBEE9-849C-8727-602A-14AA0EA8A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Как можно учесть группировку данных?</a:t>
            </a:r>
          </a:p>
          <a:p>
            <a:pPr marL="514350" indent="-514350">
              <a:buAutoNum type="arabicParenR"/>
            </a:pPr>
            <a:r>
              <a:rPr lang="ru-RU" dirty="0"/>
              <a:t>Игнорировать группировку данных. В чем минусы?</a:t>
            </a:r>
          </a:p>
        </p:txBody>
      </p:sp>
    </p:spTree>
    <p:extLst>
      <p:ext uri="{BB962C8B-B14F-4D97-AF65-F5344CB8AC3E}">
        <p14:creationId xmlns:p14="http://schemas.microsoft.com/office/powerpoint/2010/main" val="163265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55EA-9A9B-038C-5F0D-727EDDBE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66319-F72A-FDEF-C648-0E75BA84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C1D242-57C5-745B-C62A-DC615DF24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Как можно учесть группировку данных?</a:t>
            </a:r>
          </a:p>
          <a:p>
            <a:pPr marL="514350" indent="-514350">
              <a:buAutoNum type="arabicParenR"/>
            </a:pPr>
            <a:r>
              <a:rPr lang="ru-RU" dirty="0"/>
              <a:t>Игнорировать группировку данных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Включить группирующие факторы в модель (как мы делали в </a:t>
            </a:r>
            <a:r>
              <a:rPr lang="en-US" dirty="0" err="1"/>
              <a:t>lm</a:t>
            </a:r>
            <a:r>
              <a:rPr lang="en-US" dirty="0"/>
              <a:t> / </a:t>
            </a:r>
            <a:r>
              <a:rPr lang="en-US" dirty="0" err="1"/>
              <a:t>glm</a:t>
            </a:r>
            <a:r>
              <a:rPr lang="en-US" dirty="0"/>
              <a:t>)</a:t>
            </a:r>
            <a:r>
              <a:rPr lang="ru-RU" dirty="0"/>
              <a:t>. В чем минусы?</a:t>
            </a:r>
          </a:p>
        </p:txBody>
      </p:sp>
    </p:spTree>
    <p:extLst>
      <p:ext uri="{BB962C8B-B14F-4D97-AF65-F5344CB8AC3E}">
        <p14:creationId xmlns:p14="http://schemas.microsoft.com/office/powerpoint/2010/main" val="177605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6577-75F7-18B6-D271-04BC2B1E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B6957-B14D-DB2D-C542-97666FD2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13F9C4-B698-AF0D-634B-A5D51D979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Как можно учесть группировку данных?</a:t>
            </a:r>
          </a:p>
          <a:p>
            <a:pPr marL="514350" indent="-514350">
              <a:buAutoNum type="arabicParenR"/>
            </a:pPr>
            <a:r>
              <a:rPr lang="ru-RU" dirty="0"/>
              <a:t>Игнорировать группировку данных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Включить группирующие факторы в модель (как мы делали в </a:t>
            </a:r>
            <a:r>
              <a:rPr lang="en-US" dirty="0" err="1"/>
              <a:t>lm</a:t>
            </a:r>
            <a:r>
              <a:rPr lang="en-US" dirty="0"/>
              <a:t> / </a:t>
            </a:r>
            <a:r>
              <a:rPr lang="en-US" dirty="0" err="1"/>
              <a:t>glm</a:t>
            </a:r>
            <a:r>
              <a:rPr lang="en-US" dirty="0"/>
              <a:t>)</a:t>
            </a:r>
            <a:r>
              <a:rPr lang="ru-RU" dirty="0"/>
              <a:t>. В чем минусы?</a:t>
            </a:r>
          </a:p>
          <a:p>
            <a:pPr marL="514350" indent="-514350">
              <a:buAutoNum type="arabicParenR"/>
            </a:pPr>
            <a:r>
              <a:rPr lang="ru-RU" dirty="0"/>
              <a:t>Усреднить данные внутри группы. В чем минусы?</a:t>
            </a:r>
          </a:p>
        </p:txBody>
      </p:sp>
    </p:spTree>
    <p:extLst>
      <p:ext uri="{BB962C8B-B14F-4D97-AF65-F5344CB8AC3E}">
        <p14:creationId xmlns:p14="http://schemas.microsoft.com/office/powerpoint/2010/main" val="154509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2A44-5620-5C57-E9D5-4ED42CB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311F5-06F1-63A1-770E-AA20DC45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B1B26-9C15-53B5-E7C9-A727F61F2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7172"/>
            <a:ext cx="10896600" cy="4879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Как можно учесть группировку данных?</a:t>
            </a:r>
          </a:p>
          <a:p>
            <a:pPr marL="514350" indent="-514350">
              <a:buAutoNum type="arabicParenR"/>
            </a:pPr>
            <a:r>
              <a:rPr lang="ru-RU" dirty="0"/>
              <a:t>Игнорировать группировку данных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Включить группирующие факторы в модель (как мы делали в </a:t>
            </a:r>
            <a:r>
              <a:rPr lang="en-US" dirty="0" err="1"/>
              <a:t>lm</a:t>
            </a:r>
            <a:r>
              <a:rPr lang="en-US" dirty="0"/>
              <a:t> / </a:t>
            </a:r>
            <a:r>
              <a:rPr lang="en-US" dirty="0" err="1"/>
              <a:t>glm</a:t>
            </a:r>
            <a:r>
              <a:rPr lang="en-US" dirty="0"/>
              <a:t>)</a:t>
            </a:r>
            <a:r>
              <a:rPr lang="ru-RU" dirty="0"/>
              <a:t>. В чем минусы?</a:t>
            </a:r>
          </a:p>
          <a:p>
            <a:pPr marL="514350" indent="-514350">
              <a:buAutoNum type="arabicParenR"/>
            </a:pPr>
            <a:r>
              <a:rPr lang="ru-RU" dirty="0"/>
              <a:t>Усреднить данные внутри группы.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ru-RU" dirty="0"/>
              <a:t>В чем минусы?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3B8A592-4F84-D12A-A07F-BB279AA636B0}"/>
              </a:ext>
            </a:extLst>
          </p:cNvPr>
          <p:cNvSpPr txBox="1">
            <a:spLocks/>
          </p:cNvSpPr>
          <p:nvPr/>
        </p:nvSpPr>
        <p:spPr>
          <a:xfrm>
            <a:off x="838200" y="6400799"/>
            <a:ext cx="10515600" cy="398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2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0D99D89-A0D1-9849-FEA1-35EA4FD24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247" y="3211033"/>
            <a:ext cx="5105753" cy="364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0674D8-3D27-C62E-81B4-33F0EC7A3E80}"/>
              </a:ext>
            </a:extLst>
          </p:cNvPr>
          <p:cNvSpPr txBox="1"/>
          <p:nvPr/>
        </p:nvSpPr>
        <p:spPr>
          <a:xfrm>
            <a:off x="5688418" y="6492875"/>
            <a:ext cx="206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Simpson’s paradox</a:t>
            </a:r>
          </a:p>
        </p:txBody>
      </p:sp>
    </p:spTree>
    <p:extLst>
      <p:ext uri="{BB962C8B-B14F-4D97-AF65-F5344CB8AC3E}">
        <p14:creationId xmlns:p14="http://schemas.microsoft.com/office/powerpoint/2010/main" val="1959503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F1BA-FE8C-B4BA-FB22-B5B5DD37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5F77F-ABEF-E7ED-7D8B-8D25CF2B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и фиксированные эффекты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B01E9D7-FD62-4F49-B050-09B4863C30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9764" y="1690689"/>
          <a:ext cx="11527436" cy="3676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3082">
                  <a:extLst>
                    <a:ext uri="{9D8B030D-6E8A-4147-A177-3AD203B41FA5}">
                      <a16:colId xmlns:a16="http://schemas.microsoft.com/office/drawing/2014/main" val="642271643"/>
                    </a:ext>
                  </a:extLst>
                </a:gridCol>
                <a:gridCol w="4377128">
                  <a:extLst>
                    <a:ext uri="{9D8B030D-6E8A-4147-A177-3AD203B41FA5}">
                      <a16:colId xmlns:a16="http://schemas.microsoft.com/office/drawing/2014/main" val="2692406993"/>
                    </a:ext>
                  </a:extLst>
                </a:gridCol>
                <a:gridCol w="4227226">
                  <a:extLst>
                    <a:ext uri="{9D8B030D-6E8A-4147-A177-3AD203B41FA5}">
                      <a16:colId xmlns:a16="http://schemas.microsoft.com/office/drawing/2014/main" val="231865481"/>
                    </a:ext>
                  </a:extLst>
                </a:gridCol>
              </a:tblGrid>
              <a:tr h="475991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Свойства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Фиксированные факторы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Случайные факторы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442581"/>
                  </a:ext>
                </a:extLst>
              </a:tr>
              <a:tr h="111135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Уровни фактора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Заранее определенные (и воспроизводимые)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Случайная выборка из всех возможных уровней (</a:t>
                      </a:r>
                      <a:r>
                        <a:rPr lang="en-US" sz="2400" dirty="0"/>
                        <a:t>≥5)</a:t>
                      </a:r>
                      <a:endParaRPr lang="ru-RU" sz="24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106378"/>
                  </a:ext>
                </a:extLst>
              </a:tr>
              <a:tr h="122667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Для тестирования гипотез о…</a:t>
                      </a:r>
                    </a:p>
                  </a:txBody>
                  <a:tcP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Средних значениях ЗП на разных уровнях фактора</a:t>
                      </a:r>
                      <a:endParaRPr lang="en-US" sz="2400" dirty="0"/>
                    </a:p>
                    <a:p>
                      <a:pPr algn="ctr"/>
                      <a:r>
                        <a:rPr lang="en-US" sz="2400" i="1" dirty="0"/>
                        <a:t>H</a:t>
                      </a:r>
                      <a:r>
                        <a:rPr lang="en-US" sz="2400" i="1" baseline="-25000" dirty="0"/>
                        <a:t>0</a:t>
                      </a:r>
                      <a:r>
                        <a:rPr lang="en-US" sz="2400" i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US" sz="2400" i="1" baseline="-25000" dirty="0"/>
                        <a:t>1</a:t>
                      </a:r>
                      <a:r>
                        <a:rPr lang="en-US" sz="2400" i="1" dirty="0"/>
                        <a:t>=</a:t>
                      </a:r>
                      <a:r>
                        <a:rPr lang="el-GR" sz="2400" i="1" dirty="0"/>
                        <a:t>μ</a:t>
                      </a:r>
                      <a:r>
                        <a:rPr lang="en-US" sz="2400" i="1" baseline="-25000" dirty="0"/>
                        <a:t>2</a:t>
                      </a:r>
                      <a:r>
                        <a:rPr lang="en-US" sz="2400" i="1" dirty="0"/>
                        <a:t>=…=</a:t>
                      </a:r>
                      <a:r>
                        <a:rPr lang="el-GR" sz="2400" i="1" dirty="0"/>
                        <a:t>μ</a:t>
                      </a:r>
                      <a:endParaRPr lang="ru-RU" sz="2400" i="1" dirty="0"/>
                    </a:p>
                  </a:txBody>
                  <a:tcP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Дисперсии ЗП между уровнями фактора</a:t>
                      </a:r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H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: </a:t>
                      </a:r>
                      <a:r>
                        <a:rPr lang="el-GR" sz="2400" dirty="0"/>
                        <a:t>σ</a:t>
                      </a:r>
                      <a:r>
                        <a:rPr lang="en-US" sz="2400" baseline="30000" dirty="0"/>
                        <a:t>2</a:t>
                      </a:r>
                      <a:r>
                        <a:rPr lang="en-US" sz="2400" dirty="0"/>
                        <a:t>=0</a:t>
                      </a:r>
                      <a:endParaRPr lang="ru-RU" sz="2400" dirty="0"/>
                    </a:p>
                  </a:txBody>
                  <a:tcP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937133"/>
                  </a:ext>
                </a:extLst>
              </a:tr>
              <a:tr h="86273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Выводы можно экстраполировать</a:t>
                      </a:r>
                    </a:p>
                  </a:txBody>
                  <a:tcP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Только на уровни анализа</a:t>
                      </a:r>
                    </a:p>
                  </a:txBody>
                  <a:tcP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За пределы уровней анализа</a:t>
                      </a:r>
                    </a:p>
                  </a:txBody>
                  <a:tcP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4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35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6984-FA50-04C0-FB42-17DB90F4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8CCFD-1DA2-E23A-886C-EA92F448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и фиксированные эффекты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6D83D5C-44F7-3C62-E2DD-DFE854A7A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657439"/>
              </p:ext>
            </p:extLst>
          </p:nvPr>
        </p:nvGraphicFramePr>
        <p:xfrm>
          <a:off x="359764" y="1690689"/>
          <a:ext cx="11527436" cy="3676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3082">
                  <a:extLst>
                    <a:ext uri="{9D8B030D-6E8A-4147-A177-3AD203B41FA5}">
                      <a16:colId xmlns:a16="http://schemas.microsoft.com/office/drawing/2014/main" val="642271643"/>
                    </a:ext>
                  </a:extLst>
                </a:gridCol>
                <a:gridCol w="4377128">
                  <a:extLst>
                    <a:ext uri="{9D8B030D-6E8A-4147-A177-3AD203B41FA5}">
                      <a16:colId xmlns:a16="http://schemas.microsoft.com/office/drawing/2014/main" val="2692406993"/>
                    </a:ext>
                  </a:extLst>
                </a:gridCol>
                <a:gridCol w="4227226">
                  <a:extLst>
                    <a:ext uri="{9D8B030D-6E8A-4147-A177-3AD203B41FA5}">
                      <a16:colId xmlns:a16="http://schemas.microsoft.com/office/drawing/2014/main" val="231865481"/>
                    </a:ext>
                  </a:extLst>
                </a:gridCol>
              </a:tblGrid>
              <a:tr h="475991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Свойства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Фиксированные факторы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Случайные факторы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442581"/>
                  </a:ext>
                </a:extLst>
              </a:tr>
              <a:tr h="111135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Уровни фактора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Заранее определенные (и воспроизводимые)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Случайная выборка из всех возможных уровней (</a:t>
                      </a:r>
                      <a:r>
                        <a:rPr lang="en-US" sz="2400" dirty="0"/>
                        <a:t>≥5)</a:t>
                      </a:r>
                      <a:endParaRPr lang="ru-RU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106378"/>
                  </a:ext>
                </a:extLst>
              </a:tr>
              <a:tr h="122667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Для тестирования гипотез о…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Средних значениях ЗП на разных уровнях фактора</a:t>
                      </a:r>
                      <a:endParaRPr lang="en-US" sz="2400" dirty="0"/>
                    </a:p>
                    <a:p>
                      <a:pPr algn="ctr"/>
                      <a:r>
                        <a:rPr lang="en-US" sz="2400" i="1" dirty="0"/>
                        <a:t>H</a:t>
                      </a:r>
                      <a:r>
                        <a:rPr lang="en-US" sz="2400" i="1" baseline="-25000" dirty="0"/>
                        <a:t>0</a:t>
                      </a:r>
                      <a:r>
                        <a:rPr lang="en-US" sz="2400" i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US" sz="2400" i="1" baseline="-25000" dirty="0"/>
                        <a:t>1</a:t>
                      </a:r>
                      <a:r>
                        <a:rPr lang="en-US" sz="2400" i="1" dirty="0"/>
                        <a:t>=</a:t>
                      </a:r>
                      <a:r>
                        <a:rPr lang="el-GR" sz="2400" i="1" dirty="0"/>
                        <a:t>μ</a:t>
                      </a:r>
                      <a:r>
                        <a:rPr lang="en-US" sz="2400" i="1" baseline="-25000" dirty="0"/>
                        <a:t>2</a:t>
                      </a:r>
                      <a:r>
                        <a:rPr lang="en-US" sz="2400" i="1" dirty="0"/>
                        <a:t>=…=</a:t>
                      </a:r>
                      <a:r>
                        <a:rPr lang="el-GR" sz="2400" i="1" dirty="0"/>
                        <a:t>μ</a:t>
                      </a:r>
                      <a:endParaRPr lang="ru-RU" sz="2400" i="1" dirty="0"/>
                    </a:p>
                  </a:txBody>
                  <a:tcPr anchor="ctr"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Дисперсии ЗП между уровнями фактора</a:t>
                      </a:r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H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: </a:t>
                      </a:r>
                      <a:r>
                        <a:rPr lang="el-GR" sz="2400" dirty="0"/>
                        <a:t>σ</a:t>
                      </a:r>
                      <a:r>
                        <a:rPr lang="en-US" sz="2400" baseline="30000" dirty="0"/>
                        <a:t>2</a:t>
                      </a:r>
                      <a:r>
                        <a:rPr lang="en-US" sz="2400" dirty="0"/>
                        <a:t>=0</a:t>
                      </a:r>
                      <a:endParaRPr lang="ru-RU" sz="2400" dirty="0"/>
                    </a:p>
                  </a:txBody>
                  <a:tcPr anchor="ctr"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937133"/>
                  </a:ext>
                </a:extLst>
              </a:tr>
              <a:tr h="86273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Выводы можно экстраполировать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Только на уровни анализа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За пределы уровней анализа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465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7F7683-2832-37F7-58E9-18C0EE965EEA}"/>
              </a:ext>
            </a:extLst>
          </p:cNvPr>
          <p:cNvSpPr txBox="1"/>
          <p:nvPr/>
        </p:nvSpPr>
        <p:spPr>
          <a:xfrm>
            <a:off x="359764" y="5812039"/>
            <a:ext cx="11527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NB!</a:t>
            </a:r>
            <a:r>
              <a:rPr lang="en-US" sz="2400" dirty="0"/>
              <a:t> </a:t>
            </a:r>
            <a:r>
              <a:rPr lang="ru-RU" sz="2400" dirty="0"/>
              <a:t>Один и тот же фактор может быть как случайным, так и фиксированным, в зависимости от цели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74912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1ED8B-8F6A-E591-7870-62E0D311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Линейные модели со смешанными эффектами (начнем математически)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21D874-8667-9FDB-442E-2279D9ECA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52" y="1841139"/>
            <a:ext cx="10515600" cy="4351338"/>
          </a:xfrm>
        </p:spPr>
        <p:txBody>
          <a:bodyPr/>
          <a:lstStyle/>
          <a:p>
            <a:r>
              <a:rPr lang="en-US" b="1" dirty="0"/>
              <a:t>Recap:</a:t>
            </a:r>
            <a:r>
              <a:rPr lang="en-US" dirty="0"/>
              <a:t> </a:t>
            </a:r>
            <a:r>
              <a:rPr lang="ru-RU" dirty="0"/>
              <a:t>Строим прямые. У них есть два</a:t>
            </a:r>
            <a:r>
              <a:rPr lang="en-US" dirty="0"/>
              <a:t> </a:t>
            </a:r>
            <a:r>
              <a:rPr lang="ru-RU" dirty="0"/>
              <a:t>параметра: </a:t>
            </a:r>
            <a:r>
              <a:rPr lang="en-US" dirty="0"/>
              <a:t>Intercept </a:t>
            </a:r>
            <a:r>
              <a:rPr lang="ru-RU" dirty="0"/>
              <a:t>и </a:t>
            </a:r>
            <a:r>
              <a:rPr lang="en-US" dirty="0"/>
              <a:t>slope </a:t>
            </a:r>
            <a:r>
              <a:rPr lang="ru-RU" dirty="0"/>
              <a:t>(в чем смысл каждого из них?)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F8D835-C945-42A2-CD17-370DD10724AF}"/>
                  </a:ext>
                </a:extLst>
              </p:cNvPr>
              <p:cNvSpPr txBox="1"/>
              <p:nvPr/>
            </p:nvSpPr>
            <p:spPr>
              <a:xfrm>
                <a:off x="6234722" y="2849297"/>
                <a:ext cx="263828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600" baseline="-25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F8D835-C945-42A2-CD17-370DD1072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722" y="2849297"/>
                <a:ext cx="2638286" cy="646331"/>
              </a:xfrm>
              <a:prstGeom prst="rect">
                <a:avLst/>
              </a:prstGeom>
              <a:blipFill>
                <a:blip r:embed="rId2"/>
                <a:stretch>
                  <a:fillRect l="-2885" t="-15385" b="-3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8C1FCA4-DF4E-1778-5B4A-687380A98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48" y="2849297"/>
            <a:ext cx="4483275" cy="3901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818B1C-B027-E6DB-47A2-B0D23B265B7E}"/>
              </a:ext>
            </a:extLst>
          </p:cNvPr>
          <p:cNvSpPr txBox="1"/>
          <p:nvPr/>
        </p:nvSpPr>
        <p:spPr>
          <a:xfrm>
            <a:off x="6096000" y="6163273"/>
            <a:ext cx="4166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Score = 0.34 + 0.15 * day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2A99F4-4F88-D472-9B2E-2E4026A00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867400"/>
            <a:ext cx="4846955" cy="106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9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D2E3-9F0F-6264-50C6-A5D2BEC1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2C0A1-65EB-F7D8-86B9-F9BC6CC5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Линейные модели со смешанными эффектами (начнем математически)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11EA1E-31A8-D180-B381-FB97225C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7753" cy="4351338"/>
          </a:xfrm>
        </p:spPr>
        <p:txBody>
          <a:bodyPr/>
          <a:lstStyle/>
          <a:p>
            <a:r>
              <a:rPr lang="ru-RU" dirty="0"/>
              <a:t>Добавим случайный </a:t>
            </a:r>
            <a:r>
              <a:rPr lang="en-US" dirty="0"/>
              <a:t>Intercept</a:t>
            </a:r>
            <a:r>
              <a:rPr lang="ru-RU" dirty="0"/>
              <a:t> (т.е. позволим ему варьироваться между разными уровнями ЗП)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10F3F-D0BB-E859-C10D-5649703BA2EB}"/>
                  </a:ext>
                </a:extLst>
              </p:cNvPr>
              <p:cNvSpPr txBox="1"/>
              <p:nvPr/>
            </p:nvSpPr>
            <p:spPr>
              <a:xfrm>
                <a:off x="1071821" y="2758304"/>
                <a:ext cx="3721853" cy="670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rgbClr val="00B0F0"/>
                    </a:solidFill>
                  </a:rPr>
                  <a:t> </a:t>
                </a:r>
                <a:r>
                  <a:rPr lang="en-US" sz="3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600" baseline="-25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10F3F-D0BB-E859-C10D-5649703BA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21" y="2758304"/>
                <a:ext cx="3721853" cy="670696"/>
              </a:xfrm>
              <a:prstGeom prst="rect">
                <a:avLst/>
              </a:prstGeom>
              <a:blipFill>
                <a:blip r:embed="rId2"/>
                <a:stretch>
                  <a:fillRect l="-2041" t="-10909" b="-2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CC082CB-748A-CC70-19E2-9DEDF390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48" y="3525406"/>
            <a:ext cx="4207822" cy="333259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4332ACB-C1F0-D03D-4947-01AE97812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07400"/>
              </p:ext>
            </p:extLst>
          </p:nvPr>
        </p:nvGraphicFramePr>
        <p:xfrm>
          <a:off x="4776682" y="3741261"/>
          <a:ext cx="6846457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909">
                  <a:extLst>
                    <a:ext uri="{9D8B030D-6E8A-4147-A177-3AD203B41FA5}">
                      <a16:colId xmlns:a16="http://schemas.microsoft.com/office/drawing/2014/main" val="3857684785"/>
                    </a:ext>
                  </a:extLst>
                </a:gridCol>
                <a:gridCol w="1971304">
                  <a:extLst>
                    <a:ext uri="{9D8B030D-6E8A-4147-A177-3AD203B41FA5}">
                      <a16:colId xmlns:a16="http://schemas.microsoft.com/office/drawing/2014/main" val="750714505"/>
                    </a:ext>
                  </a:extLst>
                </a:gridCol>
                <a:gridCol w="4358244">
                  <a:extLst>
                    <a:ext uri="{9D8B030D-6E8A-4147-A177-3AD203B41FA5}">
                      <a16:colId xmlns:a16="http://schemas.microsoft.com/office/drawing/2014/main" val="4163576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Случайный </a:t>
                      </a:r>
                      <a:r>
                        <a:rPr lang="ru-RU" b="1" dirty="0" err="1"/>
                        <a:t>интерсепт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Формула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56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Score = 0.35 - 0.24 + 0.15 * day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38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-0.14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6"/>
                          </a:solidFill>
                        </a:rPr>
                        <a:t>Score = 0.35 - 0.14 + 0.15 * day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778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Score = 0.35 + 0.15 + 0.15 * day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kern="12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0.23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Score = 0.35 + 0.23 + 0.15 * day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281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1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FC7D-87B0-0C1A-A3BB-62C0A476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E2C57-3162-BB7F-F6DC-91F86C72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Линейные модели со смешанными эффектами (начнем математически)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61EC03-8706-B88B-99B1-3F2421C5C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Добавим случайный </a:t>
            </a:r>
            <a:r>
              <a:rPr lang="en-US" dirty="0"/>
              <a:t>slope</a:t>
            </a:r>
            <a:r>
              <a:rPr lang="ru-RU" dirty="0"/>
              <a:t> (т.е. позволим ему варьироваться между разными уровнями ЗП)</a:t>
            </a:r>
          </a:p>
        </p:txBody>
      </p:sp>
      <p:pic>
        <p:nvPicPr>
          <p:cNvPr id="4" name="Picture 4" descr="Chapter 9 Random Effects | Data Analysis in R">
            <a:extLst>
              <a:ext uri="{FF2B5EF4-FFF2-40B4-BE49-F238E27FC236}">
                <a16:creationId xmlns:a16="http://schemas.microsoft.com/office/drawing/2014/main" id="{A501CE55-8556-3480-70A8-36737DB5EC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" t="52158" r="51321" b="5295"/>
          <a:stretch/>
        </p:blipFill>
        <p:spPr bwMode="auto">
          <a:xfrm>
            <a:off x="7770405" y="4065927"/>
            <a:ext cx="4170694" cy="261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hapter 9 Random Effects | Data Analysis in R">
            <a:extLst>
              <a:ext uri="{FF2B5EF4-FFF2-40B4-BE49-F238E27FC236}">
                <a16:creationId xmlns:a16="http://schemas.microsoft.com/office/drawing/2014/main" id="{2A80EC86-99FE-A488-B85A-A6D6919F2F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" t="2244" r="49952" b="53050"/>
          <a:stretch/>
        </p:blipFill>
        <p:spPr bwMode="auto">
          <a:xfrm>
            <a:off x="3550653" y="4001292"/>
            <a:ext cx="4219752" cy="267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436A3D-4C9D-17B4-804E-5E308CD328F4}"/>
              </a:ext>
            </a:extLst>
          </p:cNvPr>
          <p:cNvSpPr/>
          <p:nvPr/>
        </p:nvSpPr>
        <p:spPr>
          <a:xfrm>
            <a:off x="2804027" y="2844090"/>
            <a:ext cx="457917" cy="343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0AA189-3959-ECDF-C73C-BF1171910314}"/>
              </a:ext>
            </a:extLst>
          </p:cNvPr>
          <p:cNvSpPr/>
          <p:nvPr/>
        </p:nvSpPr>
        <p:spPr>
          <a:xfrm flipV="1">
            <a:off x="1569061" y="3428999"/>
            <a:ext cx="2393185" cy="572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69C21C-3A6D-C77B-133C-131455BA86C8}"/>
                  </a:ext>
                </a:extLst>
              </p:cNvPr>
              <p:cNvSpPr txBox="1"/>
              <p:nvPr/>
            </p:nvSpPr>
            <p:spPr>
              <a:xfrm>
                <a:off x="838200" y="3105834"/>
                <a:ext cx="4151970" cy="670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+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600" i="1" dirty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6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600" baseline="-25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69C21C-3A6D-C77B-133C-131455BA8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05834"/>
                <a:ext cx="4151970" cy="670696"/>
              </a:xfrm>
              <a:prstGeom prst="rect">
                <a:avLst/>
              </a:prstGeom>
              <a:blipFill>
                <a:blip r:embed="rId3"/>
                <a:stretch>
                  <a:fillRect l="-1829" t="-11111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897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6368-CB25-E910-9F22-17D91BDA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E5F4E-5B70-8D29-9D7C-8646BCD9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Линейные модели со смешанными эффектами (начнем математически)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ADA037-CCF0-D23A-798E-B8C0E60FC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Добавим случайные </a:t>
            </a:r>
            <a:r>
              <a:rPr lang="en-US" dirty="0"/>
              <a:t>Intercept </a:t>
            </a:r>
            <a:r>
              <a:rPr lang="ru-RU" dirty="0"/>
              <a:t>и </a:t>
            </a:r>
            <a:r>
              <a:rPr lang="en-US" dirty="0"/>
              <a:t>slope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935075-BC4D-9600-1EE9-095A62FB8CC8}"/>
                  </a:ext>
                </a:extLst>
              </p:cNvPr>
              <p:cNvSpPr txBox="1"/>
              <p:nvPr/>
            </p:nvSpPr>
            <p:spPr>
              <a:xfrm>
                <a:off x="968829" y="2354543"/>
                <a:ext cx="5336525" cy="670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+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+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600" i="1" dirty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6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600" baseline="-25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935075-BC4D-9600-1EE9-095A62FB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29" y="2354543"/>
                <a:ext cx="5336525" cy="670696"/>
              </a:xfrm>
              <a:prstGeom prst="rect">
                <a:avLst/>
              </a:prstGeom>
              <a:blipFill>
                <a:blip r:embed="rId2"/>
                <a:stretch>
                  <a:fillRect l="-1425" t="-11111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662E520-5497-D5D8-94F0-B70D41CB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6656"/>
            <a:ext cx="4235532" cy="359134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3CE188-0C4F-6B5E-BDD2-40DF1E3D8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135754"/>
              </p:ext>
            </p:extLst>
          </p:nvPr>
        </p:nvGraphicFramePr>
        <p:xfrm>
          <a:off x="4235532" y="3610785"/>
          <a:ext cx="7889174" cy="239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346">
                  <a:extLst>
                    <a:ext uri="{9D8B030D-6E8A-4147-A177-3AD203B41FA5}">
                      <a16:colId xmlns:a16="http://schemas.microsoft.com/office/drawing/2014/main" val="3857684785"/>
                    </a:ext>
                  </a:extLst>
                </a:gridCol>
                <a:gridCol w="1472540">
                  <a:extLst>
                    <a:ext uri="{9D8B030D-6E8A-4147-A177-3AD203B41FA5}">
                      <a16:colId xmlns:a16="http://schemas.microsoft.com/office/drawing/2014/main" val="750714505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1692457711"/>
                    </a:ext>
                  </a:extLst>
                </a:gridCol>
                <a:gridCol w="4476997">
                  <a:extLst>
                    <a:ext uri="{9D8B030D-6E8A-4147-A177-3AD203B41FA5}">
                      <a16:colId xmlns:a16="http://schemas.microsoft.com/office/drawing/2014/main" val="4163576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Случайный </a:t>
                      </a:r>
                      <a:r>
                        <a:rPr lang="ru-RU" b="1" dirty="0" err="1"/>
                        <a:t>интерсепт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Случайный угол наклона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Формула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56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Score = 0.35 - 0.36 + (0.15 + 0.06) * day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38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-0.22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6"/>
                          </a:solidFill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6"/>
                          </a:solidFill>
                        </a:rPr>
                        <a:t>Score = 0.35 - 0.22 + (0.15 + 0.04) * day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778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Score = 0.35 + 0.23 + (0.15 - 0.04) * day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kern="12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0.35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Score = 0.35 + 0.35 + (0.15 – 0.06) * day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281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322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6CF8-A243-9807-2C37-3F203270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DAD8D-8133-50E3-6B05-66912836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подбора параметров в </a:t>
            </a:r>
            <a:r>
              <a:rPr lang="en-US" dirty="0"/>
              <a:t>LMEM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BF29F-36D1-2FFC-22ED-FAD59E2E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Два основных метода:</a:t>
            </a:r>
          </a:p>
          <a:p>
            <a:pPr marL="514350" indent="-514350">
              <a:buAutoNum type="arabicParenR"/>
            </a:pPr>
            <a:r>
              <a:rPr lang="ru-RU" dirty="0"/>
              <a:t>Метод</a:t>
            </a:r>
            <a:r>
              <a:rPr lang="en-US" dirty="0"/>
              <a:t> </a:t>
            </a:r>
            <a:r>
              <a:rPr lang="ru-RU" dirty="0"/>
              <a:t> максимального правдоподобия </a:t>
            </a:r>
            <a:r>
              <a:rPr lang="en-US" dirty="0">
                <a:sym typeface="Wingdings" panose="05000000000000000000" pitchFamily="2" charset="2"/>
              </a:rPr>
              <a:t> maximum log-likelihood (</a:t>
            </a:r>
            <a:r>
              <a:rPr lang="en-US" b="1" dirty="0">
                <a:sym typeface="Wingdings" panose="05000000000000000000" pitchFamily="2" charset="2"/>
              </a:rPr>
              <a:t>ML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1026" name="Picture 2" descr="Gaussian Mixture Models : Clustering Algorithm Python">
            <a:extLst>
              <a:ext uri="{FF2B5EF4-FFF2-40B4-BE49-F238E27FC236}">
                <a16:creationId xmlns:a16="http://schemas.microsoft.com/office/drawing/2014/main" id="{1994AA33-E2FD-4EEF-8AE1-E6A6088D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545782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667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40CA-5992-2735-0846-39BC9906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29149-3613-1A90-20F2-F14AF9FA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подбора параметров в </a:t>
            </a:r>
            <a:r>
              <a:rPr lang="en-US" dirty="0"/>
              <a:t>LMEM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B56098-F398-80F6-2F45-03BE43254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Два основных метода:</a:t>
            </a:r>
          </a:p>
          <a:p>
            <a:pPr marL="514350" indent="-514350">
              <a:buAutoNum type="arabicParenR"/>
            </a:pPr>
            <a:r>
              <a:rPr lang="ru-RU" dirty="0"/>
              <a:t>Метод</a:t>
            </a:r>
            <a:r>
              <a:rPr lang="en-US" dirty="0"/>
              <a:t> </a:t>
            </a:r>
            <a:r>
              <a:rPr lang="ru-RU" dirty="0"/>
              <a:t> максимального правдоподобия </a:t>
            </a:r>
            <a:r>
              <a:rPr lang="en-US" dirty="0">
                <a:sym typeface="Wingdings" panose="05000000000000000000" pitchFamily="2" charset="2"/>
              </a:rPr>
              <a:t> maximum log-likelihood (</a:t>
            </a:r>
            <a:r>
              <a:rPr lang="en-US" b="1" dirty="0">
                <a:sym typeface="Wingdings" panose="05000000000000000000" pitchFamily="2" charset="2"/>
              </a:rPr>
              <a:t>ML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ru-R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ru-RU" dirty="0">
                <a:sym typeface="Wingdings" panose="05000000000000000000" pitchFamily="2" charset="2"/>
              </a:rPr>
              <a:t>Если выборка небольшая, то оценки дисперсии получаются смещенными.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2785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9EA29-3125-B308-DF13-A27B6BE4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подбора параметров в </a:t>
            </a:r>
            <a:r>
              <a:rPr lang="en-US" dirty="0"/>
              <a:t>LMEM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D10B12-E827-9DEF-D477-2721C9A75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Два основных метода:</a:t>
            </a:r>
          </a:p>
          <a:p>
            <a:pPr marL="514350" indent="-514350">
              <a:buAutoNum type="arabicParenR"/>
            </a:pPr>
            <a:r>
              <a:rPr lang="ru-RU" dirty="0"/>
              <a:t>Метод</a:t>
            </a:r>
            <a:r>
              <a:rPr lang="en-US" dirty="0"/>
              <a:t> </a:t>
            </a:r>
            <a:r>
              <a:rPr lang="ru-RU" dirty="0"/>
              <a:t> максимального правдоподобия </a:t>
            </a:r>
            <a:r>
              <a:rPr lang="en-US" dirty="0">
                <a:sym typeface="Wingdings" panose="05000000000000000000" pitchFamily="2" charset="2"/>
              </a:rPr>
              <a:t> maximum log-likelihood (</a:t>
            </a:r>
            <a:r>
              <a:rPr lang="en-US" b="1" dirty="0">
                <a:sym typeface="Wingdings" panose="05000000000000000000" pitchFamily="2" charset="2"/>
              </a:rPr>
              <a:t>ML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514350" indent="-514350">
              <a:buAutoNum type="arabicParenR"/>
            </a:pPr>
            <a:r>
              <a:rPr lang="ru-RU" dirty="0">
                <a:sym typeface="Wingdings" panose="05000000000000000000" pitchFamily="2" charset="2"/>
              </a:rPr>
              <a:t>Метод ограниченного максимального правдоподобия (</a:t>
            </a:r>
            <a:r>
              <a:rPr lang="en-US" dirty="0">
                <a:sym typeface="Wingdings" panose="05000000000000000000" pitchFamily="2" charset="2"/>
              </a:rPr>
              <a:t>restricted/residual maximum log-likelihood, </a:t>
            </a:r>
            <a:r>
              <a:rPr lang="en-US" b="1" dirty="0">
                <a:sym typeface="Wingdings" panose="05000000000000000000" pitchFamily="2" charset="2"/>
              </a:rPr>
              <a:t>REML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ru-R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ru-RU" dirty="0">
                <a:sym typeface="Wingdings" panose="05000000000000000000" pitchFamily="2" charset="2"/>
              </a:rPr>
              <a:t>Отдельно оценивает параметры фиксированных и случайных эффектов, что позволяет получить несмещенные оценки дисперсии.</a:t>
            </a:r>
          </a:p>
        </p:txBody>
      </p:sp>
    </p:spTree>
    <p:extLst>
      <p:ext uri="{BB962C8B-B14F-4D97-AF65-F5344CB8AC3E}">
        <p14:creationId xmlns:p14="http://schemas.microsoft.com/office/powerpoint/2010/main" val="524611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7F2AF-3BDC-83BC-0861-6DCC8E99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Диагностика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47EA274-6582-3F39-BDFE-C70893B9A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b="1" dirty="0"/>
                  <a:t>Индуцированные корреляции (</a:t>
                </a:r>
                <a:r>
                  <a:rPr lang="en-US" b="1" dirty="0"/>
                  <a:t>intra-class correlation, ICC</a:t>
                </a:r>
                <a:r>
                  <a:rPr lang="ru-RU" b="1" dirty="0"/>
                  <a:t>)</a:t>
                </a:r>
                <a:r>
                  <a:rPr lang="en-US" dirty="0"/>
                  <a:t> – </a:t>
                </a:r>
                <a:r>
                  <a:rPr lang="ru-RU" dirty="0"/>
                  <a:t>насколько наблюдения внутри одной группы похожи друг на друга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𝐼𝐶𝐶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3400" b="0" i="1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3400" b="0" i="1" smtClean="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sub>
                            <m:sup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3400" b="0" i="1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3400" b="0" i="1" smtClean="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sub>
                            <m:sup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3400" b="0" i="1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3400" dirty="0"/>
              </a:p>
              <a:p>
                <a:endParaRPr lang="ru-RU" sz="3400" dirty="0"/>
              </a:p>
              <a:p>
                <a:r>
                  <a:rPr lang="ru-RU" dirty="0"/>
                  <a:t>Если </a:t>
                </a:r>
                <a:r>
                  <a:rPr lang="en-US" dirty="0"/>
                  <a:t>ICC</a:t>
                </a:r>
                <a:r>
                  <a:rPr lang="ru-RU" dirty="0"/>
                  <a:t> низкий, то наблюдения внутри групп очень разные (</a:t>
                </a:r>
                <a:r>
                  <a:rPr lang="ru-RU" dirty="0"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ru-RU" dirty="0">
                    <a:sym typeface="Wingdings" panose="05000000000000000000" pitchFamily="2" charset="2"/>
                  </a:rPr>
                  <a:t>больше данных!</a:t>
                </a:r>
                <a:r>
                  <a:rPr lang="ru-RU" dirty="0"/>
                  <a:t>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47EA274-6582-3F39-BDFE-C70893B9A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953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41F8-AB87-EF49-E418-C9E18EEF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0CBD9-C139-5DD5-6FF9-A580D377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Диагностика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61F3F2-AFC2-6C0D-8214-4D091B886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Индуцированные корреляции (</a:t>
            </a:r>
            <a:r>
              <a:rPr lang="en-US" dirty="0"/>
              <a:t>intra-class correlation, ICC</a:t>
            </a:r>
            <a:r>
              <a:rPr lang="ru-RU" dirty="0"/>
              <a:t>)</a:t>
            </a:r>
          </a:p>
          <a:p>
            <a:r>
              <a:rPr lang="ru-RU" dirty="0"/>
              <a:t>Анализ остатков модели</a:t>
            </a:r>
          </a:p>
          <a:p>
            <a:r>
              <a:rPr lang="ru-RU" dirty="0"/>
              <a:t>Анализ </a:t>
            </a:r>
            <a:r>
              <a:rPr lang="ru-RU" dirty="0" err="1"/>
              <a:t>мультиколлинеарности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9145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EA1C-30B8-67A7-4F53-5CC98A7C2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0D46E-1801-DE55-27C7-529B733E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моделей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41217B-DE8B-D56C-01CB-8DD38C67A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Тест отношения правдоподобий (</a:t>
            </a:r>
            <a:r>
              <a:rPr lang="en-US" dirty="0"/>
              <a:t>likelihood ratio test, LRT</a:t>
            </a:r>
            <a:r>
              <a:rPr lang="ru-RU" dirty="0"/>
              <a:t>)</a:t>
            </a:r>
            <a:endParaRPr lang="en-US" dirty="0"/>
          </a:p>
          <a:p>
            <a:pPr marL="514350" indent="-514350">
              <a:buAutoNum type="arabicParenR"/>
            </a:pPr>
            <a:r>
              <a:rPr lang="en-US" u="sng" dirty="0"/>
              <a:t>LRT </a:t>
            </a:r>
            <a:r>
              <a:rPr lang="ru-RU" u="sng" dirty="0"/>
              <a:t>для случайных эффектов</a:t>
            </a:r>
            <a:r>
              <a:rPr lang="ru-RU" dirty="0"/>
              <a:t>: модели с одинаковой фиксированной частью, используем </a:t>
            </a:r>
            <a:r>
              <a:rPr lang="en-US" b="1" dirty="0"/>
              <a:t>REML</a:t>
            </a:r>
            <a:r>
              <a:rPr lang="ru-RU" b="1" dirty="0"/>
              <a:t> </a:t>
            </a:r>
            <a:r>
              <a:rPr lang="ru-RU" dirty="0"/>
              <a:t>для подбора коэффициентов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u="sng" dirty="0"/>
              <a:t>LRT </a:t>
            </a:r>
            <a:r>
              <a:rPr lang="ru-RU" u="sng" dirty="0"/>
              <a:t>для фиксированных эффектов</a:t>
            </a:r>
            <a:r>
              <a:rPr lang="ru-RU" dirty="0"/>
              <a:t>: модели с одинаковой случайной частью, используем </a:t>
            </a:r>
            <a:r>
              <a:rPr lang="en-US" b="1" dirty="0"/>
              <a:t>ML</a:t>
            </a:r>
            <a:r>
              <a:rPr lang="en-US" dirty="0"/>
              <a:t> </a:t>
            </a:r>
            <a:r>
              <a:rPr lang="ru-RU" dirty="0"/>
              <a:t>для подбора коэффициентов</a:t>
            </a:r>
          </a:p>
        </p:txBody>
      </p:sp>
    </p:spTree>
    <p:extLst>
      <p:ext uri="{BB962C8B-B14F-4D97-AF65-F5344CB8AC3E}">
        <p14:creationId xmlns:p14="http://schemas.microsoft.com/office/powerpoint/2010/main" val="3651687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5554880-2189-856F-61C9-ED4694D5F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7586" y="3429000"/>
            <a:ext cx="1944413" cy="3318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Четвериков, А. А. (2015). Линейные модели со смешанными эффектами в когнитивных исследованиях. </a:t>
            </a:r>
            <a:r>
              <a:rPr lang="ru-RU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Российский журнал когнитивной науки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ru-RU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41-51.</a:t>
            </a:r>
          </a:p>
          <a:p>
            <a:pPr marL="0" indent="0">
              <a:buNone/>
            </a:pPr>
            <a:endParaRPr lang="ru-RU" sz="1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hlinkClick r:id="rId2"/>
              </a:rPr>
              <a:t>https://www.elibrary.ru/item.asp?id=35625652</a:t>
            </a:r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BAC5FE-919D-A5A7-5048-4A3C5263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909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789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946</Words>
  <Application>Microsoft Macintosh PowerPoint</Application>
  <PresentationFormat>Widescreen</PresentationFormat>
  <Paragraphs>148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Тема Office</vt:lpstr>
      <vt:lpstr>Линейные модели со смешанными эффектами</vt:lpstr>
      <vt:lpstr>Зачем?</vt:lpstr>
      <vt:lpstr>Зачем?</vt:lpstr>
      <vt:lpstr>Зачем?</vt:lpstr>
      <vt:lpstr>Зачем?</vt:lpstr>
      <vt:lpstr>Зачем?</vt:lpstr>
      <vt:lpstr>Зачем?</vt:lpstr>
      <vt:lpstr>Зачем?</vt:lpstr>
      <vt:lpstr>Зачем?</vt:lpstr>
      <vt:lpstr>Случайные и фиксированные эффекты</vt:lpstr>
      <vt:lpstr>Случайные и фиксированные эффекты</vt:lpstr>
      <vt:lpstr>Линейные модели со смешанными эффектами (начнем математически)</vt:lpstr>
      <vt:lpstr>Линейные модели со смешанными эффектами (начнем математически)</vt:lpstr>
      <vt:lpstr>Линейные модели со смешанными эффектами (начнем математически)</vt:lpstr>
      <vt:lpstr>Линейные модели со смешанными эффектами (начнем математически)</vt:lpstr>
      <vt:lpstr>Методы подбора параметров в LMEM</vt:lpstr>
      <vt:lpstr>Методы подбора параметров в LMEM</vt:lpstr>
      <vt:lpstr>Методы подбора параметров в LMEM</vt:lpstr>
      <vt:lpstr>Диагностика модели</vt:lpstr>
      <vt:lpstr>Диагностика модели</vt:lpstr>
      <vt:lpstr>Сравнение моделей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Protopova</dc:creator>
  <cp:lastModifiedBy>Протопова Мария Артуровна</cp:lastModifiedBy>
  <cp:revision>46</cp:revision>
  <dcterms:created xsi:type="dcterms:W3CDTF">2025-01-19T17:56:28Z</dcterms:created>
  <dcterms:modified xsi:type="dcterms:W3CDTF">2026-02-24T14:32:25Z</dcterms:modified>
</cp:coreProperties>
</file>